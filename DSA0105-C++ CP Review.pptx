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5" r:id="rId3"/>
    <p:sldId id="258" r:id="rId4"/>
    <p:sldId id="269" r:id="rId5"/>
    <p:sldId id="276" r:id="rId6"/>
    <p:sldId id="281" r:id="rId7"/>
    <p:sldId id="277" r:id="rId8"/>
    <p:sldId id="260" r:id="rId9"/>
    <p:sldId id="263" r:id="rId10"/>
    <p:sldId id="274" r:id="rId11"/>
    <p:sldId id="278" r:id="rId12"/>
    <p:sldId id="279" r:id="rId13"/>
    <p:sldId id="280" r:id="rId14"/>
    <p:sldId id="271" r:id="rId15"/>
    <p:sldId id="268"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4" d="100"/>
          <a:sy n="84" d="100"/>
        </p:scale>
        <p:origin x="62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57352" y="191626"/>
            <a:ext cx="1135115" cy="1342882"/>
          </a:xfrm>
          <a:prstGeom prst="rect">
            <a:avLst/>
          </a:prstGeom>
        </p:spPr>
      </p:pic>
      <p:pic>
        <p:nvPicPr>
          <p:cNvPr id="17" name="bg object 17"/>
          <p:cNvPicPr/>
          <p:nvPr/>
        </p:nvPicPr>
        <p:blipFill>
          <a:blip r:embed="rId8" cstate="print"/>
          <a:stretch>
            <a:fillRect/>
          </a:stretch>
        </p:blipFill>
        <p:spPr>
          <a:xfrm>
            <a:off x="10514231" y="191626"/>
            <a:ext cx="1520112" cy="1342882"/>
          </a:xfrm>
          <a:prstGeom prst="rect">
            <a:avLst/>
          </a:prstGeom>
        </p:spPr>
      </p:pic>
      <p:sp>
        <p:nvSpPr>
          <p:cNvPr id="2" name="Holder 2"/>
          <p:cNvSpPr>
            <a:spLocks noGrp="1"/>
          </p:cNvSpPr>
          <p:nvPr>
            <p:ph type="title"/>
          </p:nvPr>
        </p:nvSpPr>
        <p:spPr>
          <a:xfrm>
            <a:off x="1730556" y="194674"/>
            <a:ext cx="8543290" cy="1366520"/>
          </a:xfrm>
          <a:prstGeom prst="rect">
            <a:avLst/>
          </a:prstGeom>
        </p:spPr>
        <p:txBody>
          <a:bodyPr wrap="square" lIns="0" tIns="0" rIns="0" bIns="0">
            <a:spAutoFit/>
          </a:bodyPr>
          <a:lstStyle>
            <a:lvl1pPr>
              <a:defRPr sz="44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170978" y="1704357"/>
            <a:ext cx="11659164" cy="4453847"/>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4340" y="533400"/>
            <a:ext cx="8935720" cy="2044149"/>
          </a:xfrm>
          <a:prstGeom prst="rect">
            <a:avLst/>
          </a:prstGeom>
        </p:spPr>
        <p:txBody>
          <a:bodyPr vert="horz" wrap="square" lIns="0" tIns="12700" rIns="0" bIns="0" rtlCol="0">
            <a:spAutoFit/>
          </a:bodyPr>
          <a:lstStyle/>
          <a:p>
            <a:pPr marL="12700" marR="5080" indent="-2540" algn="ctr">
              <a:lnSpc>
                <a:spcPct val="100000"/>
              </a:lnSpc>
              <a:spcBef>
                <a:spcPts val="100"/>
              </a:spcBef>
            </a:pPr>
            <a:r>
              <a:rPr lang="en-GB" dirty="0">
                <a:solidFill>
                  <a:srgbClr val="FF0000"/>
                </a:solidFill>
              </a:rPr>
              <a:t>Design and Development of an AI-Powered Multi-Vendor E-Commerce Platform </a:t>
            </a:r>
            <a:endParaRPr sz="4000" dirty="0">
              <a:solidFill>
                <a:srgbClr val="FF0000"/>
              </a:solidFill>
            </a:endParaRPr>
          </a:p>
        </p:txBody>
      </p:sp>
      <p:sp>
        <p:nvSpPr>
          <p:cNvPr id="3" name="object 3"/>
          <p:cNvSpPr txBox="1"/>
          <p:nvPr/>
        </p:nvSpPr>
        <p:spPr>
          <a:xfrm>
            <a:off x="685800" y="2577549"/>
            <a:ext cx="11353800" cy="3470053"/>
          </a:xfrm>
          <a:prstGeom prst="rect">
            <a:avLst/>
          </a:prstGeom>
        </p:spPr>
        <p:txBody>
          <a:bodyPr vert="horz" wrap="square" lIns="0" tIns="11430" rIns="0" bIns="0" rtlCol="0">
            <a:spAutoFit/>
          </a:bodyPr>
          <a:lstStyle/>
          <a:p>
            <a:pPr marL="5715" algn="ctr">
              <a:lnSpc>
                <a:spcPts val="2880"/>
              </a:lnSpc>
            </a:pPr>
            <a:endParaRPr lang="en-US" sz="2200" dirty="0">
              <a:solidFill>
                <a:srgbClr val="002060"/>
              </a:solidFill>
              <a:latin typeface="Times New Roman" panose="02020603050405020304"/>
              <a:cs typeface="Times New Roman" panose="02020603050405020304"/>
            </a:endParaRPr>
          </a:p>
          <a:p>
            <a:pPr algn="ctr">
              <a:lnSpc>
                <a:spcPct val="100000"/>
              </a:lnSpc>
              <a:spcBef>
                <a:spcPts val="125"/>
              </a:spcBef>
            </a:pPr>
            <a:r>
              <a:rPr lang="en-US" sz="2200" b="1" dirty="0">
                <a:solidFill>
                  <a:srgbClr val="002060"/>
                </a:solidFill>
                <a:latin typeface="Times New Roman" panose="02020603050405020304"/>
                <a:cs typeface="Times New Roman" panose="02020603050405020304"/>
              </a:rPr>
              <a:t>DSA0105-Object Oriented Programming with C++</a:t>
            </a:r>
            <a:endParaRPr lang="en-US" sz="2200" b="1" spc="-25" dirty="0">
              <a:solidFill>
                <a:srgbClr val="002060"/>
              </a:solidFill>
              <a:latin typeface="Times New Roman" panose="02020603050405020304"/>
              <a:cs typeface="Times New Roman" panose="02020603050405020304"/>
            </a:endParaRPr>
          </a:p>
          <a:p>
            <a:pPr algn="ctr">
              <a:lnSpc>
                <a:spcPct val="100000"/>
              </a:lnSpc>
              <a:spcBef>
                <a:spcPts val="125"/>
              </a:spcBef>
            </a:pPr>
            <a:endParaRPr lang="en-US" sz="2200" b="1" spc="-25" dirty="0">
              <a:solidFill>
                <a:srgbClr val="002060"/>
              </a:solidFill>
              <a:latin typeface="Times New Roman" panose="02020603050405020304"/>
              <a:cs typeface="Times New Roman" panose="02020603050405020304"/>
            </a:endParaRPr>
          </a:p>
          <a:p>
            <a:pPr marL="2110105" marR="2098675" indent="875665" algn="ctr">
              <a:lnSpc>
                <a:spcPts val="3010"/>
              </a:lnSpc>
              <a:spcBef>
                <a:spcPts val="90"/>
              </a:spcBef>
              <a:tabLst>
                <a:tab pos="3968115" algn="l"/>
              </a:tabLst>
            </a:pPr>
            <a:r>
              <a:rPr sz="2200" b="1" spc="-10" dirty="0">
                <a:solidFill>
                  <a:srgbClr val="002060"/>
                </a:solidFill>
                <a:latin typeface="Times New Roman" panose="02020603050405020304"/>
                <a:cs typeface="Times New Roman" panose="02020603050405020304"/>
              </a:rPr>
              <a:t>Presented</a:t>
            </a:r>
            <a:r>
              <a:rPr sz="2200" b="1" spc="-80" dirty="0">
                <a:solidFill>
                  <a:srgbClr val="002060"/>
                </a:solidFill>
                <a:latin typeface="Times New Roman" panose="02020603050405020304"/>
                <a:cs typeface="Times New Roman" panose="02020603050405020304"/>
              </a:rPr>
              <a:t> </a:t>
            </a:r>
            <a:r>
              <a:rPr sz="2200" b="1" spc="-25" dirty="0">
                <a:solidFill>
                  <a:srgbClr val="002060"/>
                </a:solidFill>
                <a:latin typeface="Times New Roman" panose="02020603050405020304"/>
                <a:cs typeface="Times New Roman" panose="02020603050405020304"/>
              </a:rPr>
              <a:t>by </a:t>
            </a:r>
            <a:r>
              <a:rPr lang="en-IN" sz="2200" b="1" spc="-20" dirty="0">
                <a:solidFill>
                  <a:srgbClr val="002060"/>
                </a:solidFill>
                <a:latin typeface="Times New Roman" panose="02020603050405020304"/>
                <a:cs typeface="Times New Roman" panose="02020603050405020304"/>
              </a:rPr>
              <a:t>Hariprasad R</a:t>
            </a:r>
            <a:r>
              <a:rPr sz="2200" b="1" dirty="0">
                <a:solidFill>
                  <a:srgbClr val="002060"/>
                </a:solidFill>
                <a:latin typeface="Times New Roman" panose="02020603050405020304"/>
                <a:cs typeface="Times New Roman" panose="02020603050405020304"/>
              </a:rPr>
              <a:t>	</a:t>
            </a:r>
            <a:r>
              <a:rPr sz="2200" b="1" spc="-10" dirty="0">
                <a:solidFill>
                  <a:srgbClr val="002060"/>
                </a:solidFill>
                <a:latin typeface="Times New Roman" panose="02020603050405020304"/>
                <a:cs typeface="Times New Roman" panose="02020603050405020304"/>
              </a:rPr>
              <a:t>(19242</a:t>
            </a:r>
            <a:r>
              <a:rPr lang="en-IN" sz="2200" b="1" spc="-10" dirty="0">
                <a:solidFill>
                  <a:srgbClr val="002060"/>
                </a:solidFill>
                <a:latin typeface="Times New Roman" panose="02020603050405020304"/>
                <a:cs typeface="Times New Roman" panose="02020603050405020304"/>
              </a:rPr>
              <a:t>1179</a:t>
            </a:r>
            <a:r>
              <a:rPr sz="2200" b="1" spc="-10" dirty="0">
                <a:solidFill>
                  <a:srgbClr val="002060"/>
                </a:solidFill>
                <a:latin typeface="Times New Roman" panose="02020603050405020304"/>
                <a:cs typeface="Times New Roman" panose="02020603050405020304"/>
              </a:rPr>
              <a:t>)</a:t>
            </a:r>
            <a:endParaRPr lang="en-US" sz="2200" b="1" spc="-10" dirty="0">
              <a:solidFill>
                <a:srgbClr val="002060"/>
              </a:solidFill>
              <a:latin typeface="Times New Roman" panose="02020603050405020304"/>
              <a:cs typeface="Times New Roman" panose="02020603050405020304"/>
            </a:endParaRPr>
          </a:p>
          <a:p>
            <a:pPr marL="2110105" marR="2098675" indent="875665" algn="ctr">
              <a:lnSpc>
                <a:spcPts val="3010"/>
              </a:lnSpc>
              <a:spcBef>
                <a:spcPts val="90"/>
              </a:spcBef>
              <a:tabLst>
                <a:tab pos="3968115" algn="l"/>
              </a:tabLst>
            </a:pPr>
            <a:r>
              <a:rPr lang="en-IN" sz="2200" b="1" spc="-10" dirty="0">
                <a:solidFill>
                  <a:srgbClr val="002060"/>
                </a:solidFill>
                <a:latin typeface="Times New Roman" panose="02020603050405020304"/>
                <a:cs typeface="Times New Roman" panose="02020603050405020304"/>
              </a:rPr>
              <a:t>Pranav </a:t>
            </a:r>
            <a:r>
              <a:rPr lang="en-IN" sz="2200" b="1" spc="-10" dirty="0" err="1">
                <a:solidFill>
                  <a:srgbClr val="002060"/>
                </a:solidFill>
                <a:latin typeface="Times New Roman" panose="02020603050405020304"/>
                <a:cs typeface="Times New Roman" panose="02020603050405020304"/>
              </a:rPr>
              <a:t>Manikanda</a:t>
            </a:r>
            <a:r>
              <a:rPr lang="en-IN" sz="2200" b="1" spc="-10" dirty="0">
                <a:solidFill>
                  <a:srgbClr val="002060"/>
                </a:solidFill>
                <a:latin typeface="Times New Roman" panose="02020603050405020304"/>
                <a:cs typeface="Times New Roman" panose="02020603050405020304"/>
              </a:rPr>
              <a:t> S (1924260328)</a:t>
            </a:r>
          </a:p>
          <a:p>
            <a:pPr marL="2110105" marR="2098675" indent="875665" algn="ctr">
              <a:lnSpc>
                <a:spcPts val="3010"/>
              </a:lnSpc>
              <a:spcBef>
                <a:spcPts val="90"/>
              </a:spcBef>
              <a:tabLst>
                <a:tab pos="3968115" algn="l"/>
              </a:tabLst>
            </a:pPr>
            <a:r>
              <a:rPr lang="en-IN" sz="2200" b="1" spc="-10" dirty="0">
                <a:solidFill>
                  <a:srgbClr val="002060"/>
                </a:solidFill>
                <a:latin typeface="Times New Roman" panose="02020603050405020304"/>
                <a:cs typeface="Times New Roman" panose="02020603050405020304"/>
              </a:rPr>
              <a:t>Jayanth C (1925260087) </a:t>
            </a:r>
          </a:p>
          <a:p>
            <a:pPr marL="2110105" marR="2098675" indent="875665" algn="ctr">
              <a:lnSpc>
                <a:spcPts val="3010"/>
              </a:lnSpc>
              <a:spcBef>
                <a:spcPts val="90"/>
              </a:spcBef>
              <a:tabLst>
                <a:tab pos="3968115" algn="l"/>
              </a:tabLst>
            </a:pPr>
            <a:r>
              <a:rPr lang="en-IN" sz="2200" b="1" spc="-10" dirty="0">
                <a:solidFill>
                  <a:srgbClr val="002060"/>
                </a:solidFill>
                <a:latin typeface="Times New Roman" panose="02020603050405020304"/>
                <a:cs typeface="Times New Roman" panose="02020603050405020304"/>
              </a:rPr>
              <a:t>Arivazhagan M (1965260132)</a:t>
            </a:r>
            <a:endParaRPr sz="2200" dirty="0">
              <a:solidFill>
                <a:srgbClr val="002060"/>
              </a:solidFill>
              <a:latin typeface="Times New Roman" panose="02020603050405020304"/>
              <a:cs typeface="Times New Roman" panose="02020603050405020304"/>
            </a:endParaRPr>
          </a:p>
          <a:p>
            <a:pPr marL="5715" algn="ctr">
              <a:lnSpc>
                <a:spcPts val="2880"/>
              </a:lnSpc>
            </a:pPr>
            <a:endParaRPr sz="2200" dirty="0">
              <a:solidFill>
                <a:srgbClr val="002060"/>
              </a:solidFill>
              <a:latin typeface="Times New Roman" panose="02020603050405020304"/>
              <a:cs typeface="Times New Roman" panose="02020603050405020304"/>
            </a:endParaRPr>
          </a:p>
          <a:p>
            <a:pPr marL="2867660" marR="2854325" indent="40640" algn="ctr">
              <a:lnSpc>
                <a:spcPct val="104000"/>
              </a:lnSpc>
            </a:pPr>
            <a:r>
              <a:rPr sz="2200" b="1" spc="-10" dirty="0">
                <a:solidFill>
                  <a:srgbClr val="002060"/>
                </a:solidFill>
                <a:latin typeface="Times New Roman" panose="02020603050405020304"/>
                <a:cs typeface="Times New Roman" panose="02020603050405020304"/>
              </a:rPr>
              <a:t>Supervised</a:t>
            </a:r>
            <a:r>
              <a:rPr sz="2200" b="1" spc="-65" dirty="0">
                <a:solidFill>
                  <a:srgbClr val="002060"/>
                </a:solidFill>
                <a:latin typeface="Times New Roman" panose="02020603050405020304"/>
                <a:cs typeface="Times New Roman" panose="02020603050405020304"/>
              </a:rPr>
              <a:t> </a:t>
            </a:r>
            <a:r>
              <a:rPr sz="2200" b="1" spc="-25" dirty="0">
                <a:solidFill>
                  <a:srgbClr val="002060"/>
                </a:solidFill>
                <a:latin typeface="Times New Roman" panose="02020603050405020304"/>
                <a:cs typeface="Times New Roman" panose="02020603050405020304"/>
              </a:rPr>
              <a:t>by</a:t>
            </a:r>
            <a:endParaRPr lang="en-IN" sz="2200" b="1" spc="-25" dirty="0">
              <a:solidFill>
                <a:srgbClr val="002060"/>
              </a:solidFill>
              <a:latin typeface="Times New Roman" panose="02020603050405020304"/>
              <a:cs typeface="Times New Roman" panose="02020603050405020304"/>
            </a:endParaRPr>
          </a:p>
        </p:txBody>
      </p:sp>
      <p:sp>
        <p:nvSpPr>
          <p:cNvPr id="6" name="TextBox 5"/>
          <p:cNvSpPr txBox="1"/>
          <p:nvPr/>
        </p:nvSpPr>
        <p:spPr>
          <a:xfrm>
            <a:off x="5029200" y="5943600"/>
            <a:ext cx="2667000" cy="461665"/>
          </a:xfrm>
          <a:prstGeom prst="rect">
            <a:avLst/>
          </a:prstGeom>
          <a:noFill/>
        </p:spPr>
        <p:txBody>
          <a:bodyPr wrap="square" rtlCol="0">
            <a:spAutoFit/>
          </a:bodyPr>
          <a:lstStyle/>
          <a:p>
            <a:pPr algn="ctr"/>
            <a:r>
              <a:rPr lang="en-US" sz="2400" b="1" dirty="0" err="1">
                <a:solidFill>
                  <a:srgbClr val="002060"/>
                </a:solidFill>
                <a:latin typeface="Times New Roman" panose="02020603050405020304" pitchFamily="18" charset="0"/>
                <a:cs typeface="Times New Roman" panose="02020603050405020304" pitchFamily="18" charset="0"/>
              </a:rPr>
              <a:t>Mr.Jagadeesh</a:t>
            </a:r>
            <a:r>
              <a:rPr lang="en-US" sz="2400" b="1" dirty="0">
                <a:solidFill>
                  <a:srgbClr val="002060"/>
                </a:solidFill>
                <a:latin typeface="Times New Roman" panose="02020603050405020304" pitchFamily="18" charset="0"/>
                <a:cs typeface="Times New Roman" panose="02020603050405020304" pitchFamily="18" charset="0"/>
              </a:rPr>
              <a:t> K</a:t>
            </a:r>
            <a:endParaRPr lang="en-IN" sz="24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8100" y="602299"/>
            <a:ext cx="4495800" cy="1102058"/>
          </a:xfrm>
          <a:prstGeom prst="rect">
            <a:avLst/>
          </a:prstGeom>
        </p:spPr>
        <p:txBody>
          <a:bodyPr vert="horz" wrap="square" lIns="0" tIns="420840" rIns="0" bIns="0" rtlCol="0">
            <a:spAutoFit/>
          </a:bodyPr>
          <a:lstStyle/>
          <a:p>
            <a:pPr algn="ctr">
              <a:lnSpc>
                <a:spcPct val="100000"/>
              </a:lnSpc>
              <a:spcBef>
                <a:spcPts val="100"/>
              </a:spcBef>
            </a:pPr>
            <a:r>
              <a:rPr lang="en-IN" spc="-10" dirty="0"/>
              <a:t>ABSTRACT</a:t>
            </a:r>
            <a:endParaRPr spc="-10" dirty="0"/>
          </a:p>
        </p:txBody>
      </p:sp>
      <p:sp>
        <p:nvSpPr>
          <p:cNvPr id="5" name="Rectangle 2"/>
          <p:cNvSpPr>
            <a:spLocks noGrp="1" noChangeArrowheads="1"/>
          </p:cNvSpPr>
          <p:nvPr>
            <p:ph type="body" idx="1"/>
          </p:nvPr>
        </p:nvSpPr>
        <p:spPr bwMode="auto">
          <a:xfrm>
            <a:off x="685800" y="2181999"/>
            <a:ext cx="109728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GB" dirty="0"/>
              <a:t>The project titled “Design and Development of an AI-Powered Multi-Vendor E-Commerce Platform” aims to develop an online shopping system using C++. The platform allows customers and sellers to register, manage products, and process orders. Customers can browse products, add items to their shopping cart, and purchase products from different sellers. The AI recommendation system </a:t>
            </a:r>
            <a:r>
              <a:rPr lang="en-GB" dirty="0" err="1"/>
              <a:t>analyzes</a:t>
            </a:r>
            <a:r>
              <a:rPr lang="en-GB" dirty="0"/>
              <a:t> customer preferences, product categories, ratings, and purchase history to suggest suitable products. The system also helps identify popular products and improve the shopping experience. The main goal is to provide a simple, efficient, and personalized e-commerce platform for customers and sellers.</a:t>
            </a:r>
          </a:p>
        </p:txBody>
      </p:sp>
    </p:spTree>
    <p:extLst>
      <p:ext uri="{BB962C8B-B14F-4D97-AF65-F5344CB8AC3E}">
        <p14:creationId xmlns:p14="http://schemas.microsoft.com/office/powerpoint/2010/main" val="3233155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914400"/>
            <a:ext cx="6718047" cy="689932"/>
          </a:xfrm>
          <a:prstGeom prst="rect">
            <a:avLst/>
          </a:prstGeom>
        </p:spPr>
        <p:txBody>
          <a:bodyPr vert="horz" wrap="square" lIns="0" tIns="12700" rIns="0" bIns="0" rtlCol="0">
            <a:spAutoFit/>
          </a:bodyPr>
          <a:lstStyle/>
          <a:p>
            <a:pPr marL="1512570" marR="5080" indent="-1500505" algn="ctr">
              <a:lnSpc>
                <a:spcPct val="100000"/>
              </a:lnSpc>
              <a:spcBef>
                <a:spcPts val="100"/>
              </a:spcBef>
              <a:tabLst>
                <a:tab pos="2189480" algn="l"/>
                <a:tab pos="4749800" algn="l"/>
              </a:tabLst>
            </a:pPr>
            <a:r>
              <a:rPr lang="en-IN" spc="-10" dirty="0"/>
              <a:t>PROBLEM STATEMENT</a:t>
            </a:r>
          </a:p>
        </p:txBody>
      </p:sp>
      <p:sp>
        <p:nvSpPr>
          <p:cNvPr id="4" name="Rectangle 2"/>
          <p:cNvSpPr>
            <a:spLocks noChangeArrowheads="1"/>
          </p:cNvSpPr>
          <p:nvPr/>
        </p:nvSpPr>
        <p:spPr bwMode="auto">
          <a:xfrm>
            <a:off x="996823" y="1752600"/>
            <a:ext cx="9906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products from multiple sellers on a single platform is challenging.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may find it difficult to identify suitable products from a large collection.</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product and order management can lead to errors.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shopping systems provide limited personalized product recommendations.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AI-powered system is needed to improve product discovery, order management, and customer shopping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1500" y="685800"/>
            <a:ext cx="3429000" cy="689932"/>
          </a:xfrm>
          <a:prstGeom prst="rect">
            <a:avLst/>
          </a:prstGeom>
        </p:spPr>
        <p:txBody>
          <a:bodyPr vert="horz" wrap="square" lIns="0" tIns="12700" rIns="0" bIns="0" rtlCol="0">
            <a:spAutoFit/>
          </a:bodyPr>
          <a:lstStyle/>
          <a:p>
            <a:pPr marL="1512570" marR="5080" indent="-1500505">
              <a:lnSpc>
                <a:spcPct val="100000"/>
              </a:lnSpc>
              <a:spcBef>
                <a:spcPts val="100"/>
              </a:spcBef>
              <a:tabLst>
                <a:tab pos="2189480" algn="l"/>
                <a:tab pos="4749800" algn="l"/>
              </a:tabLst>
            </a:pPr>
            <a:r>
              <a:rPr lang="en-IN" spc="-10" dirty="0"/>
              <a:t>OBJECTIVE</a:t>
            </a:r>
          </a:p>
        </p:txBody>
      </p:sp>
      <p:sp>
        <p:nvSpPr>
          <p:cNvPr id="3" name="Rectangle 1"/>
          <p:cNvSpPr>
            <a:spLocks noChangeArrowheads="1"/>
          </p:cNvSpPr>
          <p:nvPr/>
        </p:nvSpPr>
        <p:spPr bwMode="auto">
          <a:xfrm>
            <a:off x="1790700" y="2065666"/>
            <a:ext cx="97155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secure customer and seller registration and login.</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manage products, prices, stock, and customer orders.</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AI-based product recommendation techniques.</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personalized shopping suggestions based on customer interests.</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product discovery and simplify online shopping.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6600" y="838200"/>
            <a:ext cx="5829300" cy="689932"/>
          </a:xfrm>
          <a:prstGeom prst="rect">
            <a:avLst/>
          </a:prstGeom>
        </p:spPr>
        <p:txBody>
          <a:bodyPr vert="horz" wrap="square" lIns="0" tIns="12700" rIns="0" bIns="0" rtlCol="0">
            <a:spAutoFit/>
          </a:bodyPr>
          <a:lstStyle/>
          <a:p>
            <a:pPr marL="1512570" marR="5080" indent="-1500505" algn="ctr">
              <a:lnSpc>
                <a:spcPct val="100000"/>
              </a:lnSpc>
              <a:spcBef>
                <a:spcPts val="100"/>
              </a:spcBef>
              <a:tabLst>
                <a:tab pos="2189480" algn="l"/>
                <a:tab pos="4749800" algn="l"/>
              </a:tabLst>
            </a:pPr>
            <a:r>
              <a:rPr lang="en-IN" spc="-10" dirty="0"/>
              <a:t>PROPOSED SYSTEM</a:t>
            </a:r>
          </a:p>
        </p:txBody>
      </p:sp>
      <p:sp>
        <p:nvSpPr>
          <p:cNvPr id="4" name="Rectangle 3"/>
          <p:cNvSpPr/>
          <p:nvPr/>
        </p:nvSpPr>
        <p:spPr>
          <a:xfrm>
            <a:off x="914400" y="1997839"/>
            <a:ext cx="10287000" cy="3970318"/>
          </a:xfrm>
          <a:prstGeom prst="rect">
            <a:avLst/>
          </a:prstGeom>
        </p:spPr>
        <p:txBody>
          <a:bodyPr wrap="square">
            <a:spAutoFit/>
          </a:bodyPr>
          <a:lstStyle/>
          <a:p>
            <a:pPr algn="just">
              <a:lnSpc>
                <a:spcPct val="150000"/>
              </a:lnSpc>
            </a:pPr>
            <a:r>
              <a:rPr lang="en-GB" sz="2400" dirty="0">
                <a:latin typeface="Times New Roman" panose="02020603050405020304" pitchFamily="18" charset="0"/>
                <a:cs typeface="Times New Roman" panose="02020603050405020304" pitchFamily="18" charset="0"/>
              </a:rPr>
              <a:t>The proposed system uses C++ to manage customers, sellers, products, and orders. Customers can browse available products, add items to their cart, and place orders. Sellers can add, update, and manage their products. The AI recommendation component </a:t>
            </a:r>
            <a:r>
              <a:rPr lang="en-GB" sz="2400" dirty="0" err="1">
                <a:latin typeface="Times New Roman" panose="02020603050405020304" pitchFamily="18" charset="0"/>
                <a:cs typeface="Times New Roman" panose="02020603050405020304" pitchFamily="18" charset="0"/>
              </a:rPr>
              <a:t>analyzes</a:t>
            </a:r>
            <a:r>
              <a:rPr lang="en-GB" sz="2400" dirty="0">
                <a:latin typeface="Times New Roman" panose="02020603050405020304" pitchFamily="18" charset="0"/>
                <a:cs typeface="Times New Roman" panose="02020603050405020304" pitchFamily="18" charset="0"/>
              </a:rPr>
              <a:t> product categories, ratings, and purchase history to suggest relevant products. Compared with a basic shopping system, the proposed solution offers personalized recommendations and centralized management of multiple sellers.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164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5BFB7-BA88-0191-7509-518D5B0546F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16CC19E-1D39-7E6B-624A-75DD3C5815B0}"/>
              </a:ext>
            </a:extLst>
          </p:cNvPr>
          <p:cNvSpPr txBox="1">
            <a:spLocks noGrp="1"/>
          </p:cNvSpPr>
          <p:nvPr>
            <p:ph type="title"/>
          </p:nvPr>
        </p:nvSpPr>
        <p:spPr>
          <a:xfrm>
            <a:off x="3276600" y="838200"/>
            <a:ext cx="6400800" cy="689932"/>
          </a:xfrm>
          <a:prstGeom prst="rect">
            <a:avLst/>
          </a:prstGeom>
        </p:spPr>
        <p:txBody>
          <a:bodyPr vert="horz" wrap="square" lIns="0" tIns="12700" rIns="0" bIns="0" rtlCol="0">
            <a:spAutoFit/>
          </a:bodyPr>
          <a:lstStyle/>
          <a:p>
            <a:pPr marL="1512570" marR="5080" indent="-1500505" algn="ctr">
              <a:lnSpc>
                <a:spcPct val="100000"/>
              </a:lnSpc>
              <a:spcBef>
                <a:spcPts val="100"/>
              </a:spcBef>
              <a:tabLst>
                <a:tab pos="2189480" algn="l"/>
                <a:tab pos="4749800" algn="l"/>
              </a:tabLst>
            </a:pPr>
            <a:r>
              <a:rPr lang="en-IN" spc="-10" dirty="0"/>
              <a:t>TECHNOLOGIES USED</a:t>
            </a:r>
          </a:p>
        </p:txBody>
      </p:sp>
      <p:sp>
        <p:nvSpPr>
          <p:cNvPr id="5" name="TextBox 4">
            <a:extLst>
              <a:ext uri="{FF2B5EF4-FFF2-40B4-BE49-F238E27FC236}">
                <a16:creationId xmlns:a16="http://schemas.microsoft.com/office/drawing/2014/main" id="{A258F87C-8EEF-D99C-A197-00B24AB25AF7}"/>
              </a:ext>
            </a:extLst>
          </p:cNvPr>
          <p:cNvSpPr txBox="1"/>
          <p:nvPr/>
        </p:nvSpPr>
        <p:spPr>
          <a:xfrm>
            <a:off x="1199959" y="1676400"/>
            <a:ext cx="10153841" cy="5011949"/>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400" b="0" i="0" spc="12" dirty="0">
                <a:solidFill>
                  <a:sysClr val="windowText" lastClr="000000"/>
                </a:solidFill>
                <a:effectLst/>
                <a:latin typeface="Times New Roman" panose="02020603050405020304" pitchFamily="18" charset="0"/>
                <a:cs typeface="Times New Roman" panose="02020603050405020304" pitchFamily="18" charset="0"/>
              </a:rPr>
              <a:t>C++ – Backend development and product recommendation logic. </a:t>
            </a:r>
          </a:p>
          <a:p>
            <a:pPr marL="342900" indent="-342900" algn="just">
              <a:lnSpc>
                <a:spcPct val="150000"/>
              </a:lnSpc>
              <a:buFont typeface="Wingdings" panose="05000000000000000000" pitchFamily="2" charset="2"/>
              <a:buChar char="Ø"/>
            </a:pPr>
            <a:r>
              <a:rPr lang="en-IN" sz="2400" b="0" i="0" spc="12" dirty="0">
                <a:solidFill>
                  <a:sysClr val="windowText" lastClr="000000"/>
                </a:solidFill>
                <a:effectLst/>
                <a:latin typeface="Times New Roman" panose="02020603050405020304" pitchFamily="18" charset="0"/>
                <a:cs typeface="Times New Roman" panose="02020603050405020304" pitchFamily="18" charset="0"/>
              </a:rPr>
              <a:t>HTML – Creates the website structure. </a:t>
            </a:r>
          </a:p>
          <a:p>
            <a:pPr marL="342900" indent="-342900" algn="just">
              <a:lnSpc>
                <a:spcPct val="150000"/>
              </a:lnSpc>
              <a:buFont typeface="Wingdings" panose="05000000000000000000" pitchFamily="2" charset="2"/>
              <a:buChar char="Ø"/>
            </a:pPr>
            <a:r>
              <a:rPr lang="en-IN" sz="2400" b="0" i="0" spc="12" dirty="0">
                <a:solidFill>
                  <a:sysClr val="windowText" lastClr="000000"/>
                </a:solidFill>
                <a:effectLst/>
                <a:latin typeface="Times New Roman" panose="02020603050405020304" pitchFamily="18" charset="0"/>
                <a:cs typeface="Times New Roman" panose="02020603050405020304" pitchFamily="18" charset="0"/>
              </a:rPr>
              <a:t>CSS – Designs and styles the website. </a:t>
            </a:r>
          </a:p>
          <a:p>
            <a:pPr marL="342900" indent="-342900" algn="just">
              <a:lnSpc>
                <a:spcPct val="150000"/>
              </a:lnSpc>
              <a:buFont typeface="Wingdings" panose="05000000000000000000" pitchFamily="2" charset="2"/>
              <a:buChar char="Ø"/>
            </a:pPr>
            <a:r>
              <a:rPr lang="en-IN" sz="2400" b="0" i="0" spc="12" dirty="0">
                <a:solidFill>
                  <a:sysClr val="windowText" lastClr="000000"/>
                </a:solidFill>
                <a:effectLst/>
                <a:latin typeface="Times New Roman" panose="02020603050405020304" pitchFamily="18" charset="0"/>
                <a:cs typeface="Times New Roman" panose="02020603050405020304" pitchFamily="18" charset="0"/>
              </a:rPr>
              <a:t>JavaScript – Handles search, shopping cart, and interactive features. </a:t>
            </a:r>
          </a:p>
          <a:p>
            <a:pPr marL="342900" indent="-342900" algn="just">
              <a:lnSpc>
                <a:spcPct val="150000"/>
              </a:lnSpc>
              <a:buFont typeface="Wingdings" panose="05000000000000000000" pitchFamily="2" charset="2"/>
              <a:buChar char="Ø"/>
            </a:pPr>
            <a:r>
              <a:rPr lang="en-IN" sz="2400" b="0" i="0" spc="12" dirty="0">
                <a:solidFill>
                  <a:sysClr val="windowText" lastClr="000000"/>
                </a:solidFill>
                <a:effectLst/>
                <a:latin typeface="Times New Roman" panose="02020603050405020304" pitchFamily="18" charset="0"/>
                <a:cs typeface="Times New Roman" panose="02020603050405020304" pitchFamily="18" charset="0"/>
              </a:rPr>
              <a:t>GCC (MinGW) – Compiles and runs the C++ program. </a:t>
            </a:r>
          </a:p>
          <a:p>
            <a:pPr marL="342900" indent="-342900" algn="just">
              <a:lnSpc>
                <a:spcPct val="150000"/>
              </a:lnSpc>
              <a:buFont typeface="Wingdings" panose="05000000000000000000" pitchFamily="2" charset="2"/>
              <a:buChar char="Ø"/>
            </a:pPr>
            <a:r>
              <a:rPr lang="en-IN" sz="2400" b="0" i="0" spc="12" dirty="0" err="1">
                <a:solidFill>
                  <a:sysClr val="windowText" lastClr="000000"/>
                </a:solidFill>
                <a:effectLst/>
                <a:latin typeface="Times New Roman" panose="02020603050405020304" pitchFamily="18" charset="0"/>
                <a:cs typeface="Times New Roman" panose="02020603050405020304" pitchFamily="18" charset="0"/>
              </a:rPr>
              <a:t>cpp-httplib</a:t>
            </a:r>
            <a:r>
              <a:rPr lang="en-IN" sz="2400" b="0" i="0" spc="12" dirty="0">
                <a:solidFill>
                  <a:sysClr val="windowText" lastClr="000000"/>
                </a:solidFill>
                <a:effectLst/>
                <a:latin typeface="Times New Roman" panose="02020603050405020304" pitchFamily="18" charset="0"/>
                <a:cs typeface="Times New Roman" panose="02020603050405020304" pitchFamily="18" charset="0"/>
              </a:rPr>
              <a:t> – Connects the website frontend with the C++ backend through HTTP APIs. </a:t>
            </a:r>
          </a:p>
          <a:p>
            <a:pPr marL="342900" indent="-342900" algn="just">
              <a:lnSpc>
                <a:spcPct val="150000"/>
              </a:lnSpc>
              <a:buFont typeface="Wingdings" panose="05000000000000000000" pitchFamily="2" charset="2"/>
              <a:buChar char="Ø"/>
            </a:pPr>
            <a:r>
              <a:rPr lang="en-IN" sz="2400" b="0" i="0" spc="12" dirty="0">
                <a:solidFill>
                  <a:sysClr val="windowText" lastClr="000000"/>
                </a:solidFill>
                <a:effectLst/>
                <a:latin typeface="Times New Roman" panose="02020603050405020304" pitchFamily="18" charset="0"/>
                <a:cs typeface="Times New Roman" panose="02020603050405020304" pitchFamily="18" charset="0"/>
              </a:rPr>
              <a:t>Visual Studio Code – Used to write and manage the project code. Google Chrome – Used to run and test the website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1813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71700" y="533400"/>
            <a:ext cx="7772400" cy="689932"/>
          </a:xfrm>
          <a:prstGeom prst="rect">
            <a:avLst/>
          </a:prstGeom>
        </p:spPr>
        <p:txBody>
          <a:bodyPr vert="horz" wrap="square" lIns="0" tIns="12700" rIns="0" bIns="0" rtlCol="0">
            <a:spAutoFit/>
          </a:bodyPr>
          <a:lstStyle/>
          <a:p>
            <a:pPr marL="1512570" marR="5080" indent="-1500505" algn="ctr">
              <a:lnSpc>
                <a:spcPct val="100000"/>
              </a:lnSpc>
              <a:spcBef>
                <a:spcPts val="100"/>
              </a:spcBef>
              <a:tabLst>
                <a:tab pos="2189480" algn="l"/>
                <a:tab pos="4749800" algn="l"/>
              </a:tabLst>
            </a:pPr>
            <a:r>
              <a:rPr lang="en-IN" spc="-10" dirty="0"/>
              <a:t>SYSTEM ARCHITECTURE</a:t>
            </a:r>
          </a:p>
        </p:txBody>
      </p:sp>
      <p:pic>
        <p:nvPicPr>
          <p:cNvPr id="3" name="Picture 2"/>
          <p:cNvPicPr>
            <a:picLocks noChangeAspect="1"/>
          </p:cNvPicPr>
          <p:nvPr/>
        </p:nvPicPr>
        <p:blipFill>
          <a:blip r:embed="rId2"/>
          <a:stretch>
            <a:fillRect/>
          </a:stretch>
        </p:blipFill>
        <p:spPr>
          <a:xfrm>
            <a:off x="914400" y="1828800"/>
            <a:ext cx="10591800" cy="4694430"/>
          </a:xfrm>
          <a:prstGeom prst="rect">
            <a:avLst/>
          </a:prstGeom>
        </p:spPr>
      </p:pic>
    </p:spTree>
    <p:extLst>
      <p:ext uri="{BB962C8B-B14F-4D97-AF65-F5344CB8AC3E}">
        <p14:creationId xmlns:p14="http://schemas.microsoft.com/office/powerpoint/2010/main" val="5961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914400"/>
            <a:ext cx="8864600" cy="628377"/>
          </a:xfrm>
          <a:prstGeom prst="rect">
            <a:avLst/>
          </a:prstGeom>
        </p:spPr>
        <p:txBody>
          <a:bodyPr vert="horz" wrap="square" lIns="0" tIns="12700" rIns="0" bIns="0" rtlCol="0">
            <a:spAutoFit/>
          </a:bodyPr>
          <a:lstStyle/>
          <a:p>
            <a:pPr marL="3175635" marR="5080" indent="-3163570">
              <a:lnSpc>
                <a:spcPct val="100000"/>
              </a:lnSpc>
              <a:spcBef>
                <a:spcPts val="100"/>
              </a:spcBef>
              <a:tabLst>
                <a:tab pos="2399665" algn="l"/>
                <a:tab pos="2818765" algn="l"/>
              </a:tabLst>
            </a:pPr>
            <a:r>
              <a:rPr lang="en-IN" sz="4000" dirty="0"/>
              <a:t>Module 1: User and Seller Management </a:t>
            </a:r>
            <a:endParaRPr sz="4000" spc="-10" dirty="0">
              <a:solidFill>
                <a:srgbClr val="FF0000"/>
              </a:solidFill>
            </a:endParaRPr>
          </a:p>
        </p:txBody>
      </p:sp>
      <p:sp>
        <p:nvSpPr>
          <p:cNvPr id="5" name="Rectangle 3"/>
          <p:cNvSpPr>
            <a:spLocks noChangeArrowheads="1"/>
          </p:cNvSpPr>
          <p:nvPr/>
        </p:nvSpPr>
        <p:spPr bwMode="auto">
          <a:xfrm>
            <a:off x="457200" y="2041266"/>
            <a:ext cx="4953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Register new customers and sellers.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secure login and logout functionality.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Validate usernames and passwords.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 customer and seller profile details.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 and retrieve user information.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1752600"/>
            <a:ext cx="5410200" cy="481673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473410"/>
            <a:ext cx="8099246" cy="1243930"/>
          </a:xfrm>
          <a:prstGeom prst="rect">
            <a:avLst/>
          </a:prstGeom>
        </p:spPr>
        <p:txBody>
          <a:bodyPr vert="horz" wrap="square" lIns="0" tIns="12700" rIns="0" bIns="0" rtlCol="0">
            <a:spAutoFit/>
          </a:bodyPr>
          <a:lstStyle/>
          <a:p>
            <a:pPr marL="2145665" marR="5080" indent="-2133600">
              <a:lnSpc>
                <a:spcPct val="100000"/>
              </a:lnSpc>
              <a:spcBef>
                <a:spcPts val="100"/>
              </a:spcBef>
              <a:tabLst>
                <a:tab pos="2399665" algn="l"/>
                <a:tab pos="2750820" algn="l"/>
                <a:tab pos="2818765" algn="l"/>
                <a:tab pos="4712970" algn="l"/>
              </a:tabLst>
            </a:pPr>
            <a:r>
              <a:rPr lang="en-GB" sz="4000" dirty="0"/>
              <a:t>Module 2: Product and Order Management </a:t>
            </a:r>
            <a:endParaRPr sz="3800" spc="-10" dirty="0"/>
          </a:p>
        </p:txBody>
      </p:sp>
      <p:sp>
        <p:nvSpPr>
          <p:cNvPr id="3" name="Rectangle 1"/>
          <p:cNvSpPr>
            <a:spLocks noChangeArrowheads="1"/>
          </p:cNvSpPr>
          <p:nvPr/>
        </p:nvSpPr>
        <p:spPr bwMode="auto">
          <a:xfrm>
            <a:off x="457200" y="1853530"/>
            <a:ext cx="6241643"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update, delete, and display products.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 product categories, prices, and stock quantities.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customers to add or remove products from the cart.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 the total price and process customer orders.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Update stock quantities and maintain order history.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8363" y="1981200"/>
            <a:ext cx="5295037" cy="47379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457200"/>
            <a:ext cx="8305800" cy="1243930"/>
          </a:xfrm>
          <a:prstGeom prst="rect">
            <a:avLst/>
          </a:prstGeom>
        </p:spPr>
        <p:txBody>
          <a:bodyPr vert="horz" wrap="square" lIns="0" tIns="12700" rIns="0" bIns="0" rtlCol="0">
            <a:spAutoFit/>
          </a:bodyPr>
          <a:lstStyle/>
          <a:p>
            <a:pPr marL="2145665" marR="5080" indent="-2133600">
              <a:lnSpc>
                <a:spcPct val="100000"/>
              </a:lnSpc>
              <a:spcBef>
                <a:spcPts val="100"/>
              </a:spcBef>
              <a:tabLst>
                <a:tab pos="2399665" algn="l"/>
                <a:tab pos="2750820" algn="l"/>
                <a:tab pos="2818765" algn="l"/>
                <a:tab pos="4712970" algn="l"/>
              </a:tabLst>
            </a:pPr>
            <a:r>
              <a:rPr lang="en-GB" sz="4000" dirty="0"/>
              <a:t>Module 3: AI Recommendation and Analytics Module</a:t>
            </a:r>
            <a:endParaRPr sz="3800" spc="-10" dirty="0"/>
          </a:p>
        </p:txBody>
      </p:sp>
      <p:sp>
        <p:nvSpPr>
          <p:cNvPr id="3" name="Rectangle 1"/>
          <p:cNvSpPr>
            <a:spLocks noChangeArrowheads="1"/>
          </p:cNvSpPr>
          <p:nvPr/>
        </p:nvSpPr>
        <p:spPr bwMode="auto">
          <a:xfrm>
            <a:off x="990600" y="2286000"/>
            <a:ext cx="6172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product ratings and sales data.</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popular products and categories.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 product popularity scores.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product and sales reports.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trending products based on available data.</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1833880"/>
            <a:ext cx="4191000" cy="4779412"/>
          </a:xfrm>
          <a:prstGeom prst="rect">
            <a:avLst/>
          </a:prstGeom>
        </p:spPr>
      </p:pic>
    </p:spTree>
    <p:extLst>
      <p:ext uri="{BB962C8B-B14F-4D97-AF65-F5344CB8AC3E}">
        <p14:creationId xmlns:p14="http://schemas.microsoft.com/office/powerpoint/2010/main" val="3582052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609600"/>
            <a:ext cx="9372600" cy="997709"/>
          </a:xfrm>
          <a:prstGeom prst="rect">
            <a:avLst/>
          </a:prstGeom>
        </p:spPr>
        <p:txBody>
          <a:bodyPr vert="horz" wrap="square" lIns="0" tIns="12700" rIns="0" bIns="0" rtlCol="0">
            <a:spAutoFit/>
          </a:bodyPr>
          <a:lstStyle/>
          <a:p>
            <a:pPr marL="2145665" marR="5080" indent="-2133600">
              <a:lnSpc>
                <a:spcPct val="100000"/>
              </a:lnSpc>
              <a:spcBef>
                <a:spcPts val="100"/>
              </a:spcBef>
              <a:tabLst>
                <a:tab pos="2399665" algn="l"/>
                <a:tab pos="2750820" algn="l"/>
                <a:tab pos="2818765" algn="l"/>
                <a:tab pos="4712970" algn="l"/>
              </a:tabLst>
            </a:pPr>
            <a:r>
              <a:rPr lang="en-GB" sz="3200" dirty="0"/>
              <a:t>Module 4: AI-Powered Product Recommendation and Personalized Shopping</a:t>
            </a:r>
            <a:endParaRPr sz="3200" spc="-10" dirty="0"/>
          </a:p>
        </p:txBody>
      </p:sp>
      <p:sp>
        <p:nvSpPr>
          <p:cNvPr id="4" name="Rectangle 1"/>
          <p:cNvSpPr>
            <a:spLocks noChangeArrowheads="1"/>
          </p:cNvSpPr>
          <p:nvPr/>
        </p:nvSpPr>
        <p:spPr bwMode="auto">
          <a:xfrm>
            <a:off x="381000" y="2502016"/>
            <a:ext cx="7696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 customer preferences and purchase history.</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product categories and features.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 similarity scores between products.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Rank and recommend suitable products using content-based filtering.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personalized product suggestions to customers.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800" y="2001520"/>
            <a:ext cx="3505201" cy="4652433"/>
          </a:xfrm>
          <a:prstGeom prst="rect">
            <a:avLst/>
          </a:prstGeom>
        </p:spPr>
      </p:pic>
    </p:spTree>
    <p:extLst>
      <p:ext uri="{BB962C8B-B14F-4D97-AF65-F5344CB8AC3E}">
        <p14:creationId xmlns:p14="http://schemas.microsoft.com/office/powerpoint/2010/main" val="3941727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609600"/>
            <a:ext cx="9372600" cy="505267"/>
          </a:xfrm>
          <a:prstGeom prst="rect">
            <a:avLst/>
          </a:prstGeom>
        </p:spPr>
        <p:txBody>
          <a:bodyPr vert="horz" wrap="square" lIns="0" tIns="12700" rIns="0" bIns="0" rtlCol="0">
            <a:spAutoFit/>
          </a:bodyPr>
          <a:lstStyle/>
          <a:p>
            <a:pPr marL="2145665" marR="5080" indent="-2133600" algn="ctr">
              <a:lnSpc>
                <a:spcPct val="100000"/>
              </a:lnSpc>
              <a:spcBef>
                <a:spcPts val="100"/>
              </a:spcBef>
              <a:tabLst>
                <a:tab pos="2399665" algn="l"/>
                <a:tab pos="2750820" algn="l"/>
                <a:tab pos="2818765" algn="l"/>
                <a:tab pos="4712970" algn="l"/>
              </a:tabLst>
            </a:pPr>
            <a:r>
              <a:rPr lang="en-GB" sz="3200" dirty="0"/>
              <a:t>OUTPUT</a:t>
            </a:r>
            <a:endParaRPr sz="3200" spc="-1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676400"/>
            <a:ext cx="11811000" cy="4908712"/>
          </a:xfrm>
          <a:prstGeom prst="rect">
            <a:avLst/>
          </a:prstGeom>
        </p:spPr>
      </p:pic>
    </p:spTree>
    <p:extLst>
      <p:ext uri="{BB962C8B-B14F-4D97-AF65-F5344CB8AC3E}">
        <p14:creationId xmlns:p14="http://schemas.microsoft.com/office/powerpoint/2010/main" val="2919051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609600"/>
            <a:ext cx="9372600" cy="597599"/>
          </a:xfrm>
          <a:prstGeom prst="rect">
            <a:avLst/>
          </a:prstGeom>
        </p:spPr>
        <p:txBody>
          <a:bodyPr vert="horz" wrap="square" lIns="0" tIns="12700" rIns="0" bIns="0" rtlCol="0">
            <a:spAutoFit/>
          </a:bodyPr>
          <a:lstStyle/>
          <a:p>
            <a:pPr marL="2145665" marR="5080" indent="-2133600" algn="ctr">
              <a:lnSpc>
                <a:spcPct val="100000"/>
              </a:lnSpc>
              <a:spcBef>
                <a:spcPts val="100"/>
              </a:spcBef>
              <a:tabLst>
                <a:tab pos="2399665" algn="l"/>
                <a:tab pos="2750820" algn="l"/>
                <a:tab pos="2818765" algn="l"/>
                <a:tab pos="4712970" algn="l"/>
              </a:tabLst>
            </a:pPr>
            <a:r>
              <a:rPr lang="en-GB" sz="3800" dirty="0"/>
              <a:t>ADVANTAGES</a:t>
            </a:r>
            <a:endParaRPr sz="3800" spc="-10" dirty="0"/>
          </a:p>
        </p:txBody>
      </p:sp>
      <p:sp>
        <p:nvSpPr>
          <p:cNvPr id="4" name="Rectangle 1"/>
          <p:cNvSpPr>
            <a:spLocks noChangeArrowheads="1"/>
          </p:cNvSpPr>
          <p:nvPr/>
        </p:nvSpPr>
        <p:spPr bwMode="auto">
          <a:xfrm>
            <a:off x="1447800" y="1752600"/>
            <a:ext cx="9372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Shopping: Customers can browse and purchase products online.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Sellers: Different sellers can sell their products on one platform.</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Recommendations: Suggests products based on customer preferences.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Saving: Customers can search and compare products quickly.</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Sales Analysis: Helps sellers identify popular products and improve sales.</a:t>
            </a:r>
          </a:p>
        </p:txBody>
      </p:sp>
    </p:spTree>
    <p:extLst>
      <p:ext uri="{BB962C8B-B14F-4D97-AF65-F5344CB8AC3E}">
        <p14:creationId xmlns:p14="http://schemas.microsoft.com/office/powerpoint/2010/main" val="2763390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5889" y="381000"/>
            <a:ext cx="3984444" cy="953135"/>
          </a:xfrm>
          <a:prstGeom prst="rect">
            <a:avLst/>
          </a:prstGeom>
        </p:spPr>
        <p:txBody>
          <a:bodyPr vert="horz" wrap="square" lIns="0" tIns="273357" rIns="0" bIns="0" rtlCol="0">
            <a:spAutoFit/>
          </a:bodyPr>
          <a:lstStyle/>
          <a:p>
            <a:pPr>
              <a:lnSpc>
                <a:spcPct val="100000"/>
              </a:lnSpc>
              <a:spcBef>
                <a:spcPts val="100"/>
              </a:spcBef>
            </a:pPr>
            <a:r>
              <a:rPr spc="-10" dirty="0"/>
              <a:t>C</a:t>
            </a:r>
            <a:r>
              <a:rPr lang="en-IN" spc="-10" dirty="0"/>
              <a:t>ONCLUSION</a:t>
            </a:r>
            <a:endParaRPr spc="-10" dirty="0"/>
          </a:p>
        </p:txBody>
      </p:sp>
      <p:sp>
        <p:nvSpPr>
          <p:cNvPr id="4" name="Rectangle 1"/>
          <p:cNvSpPr>
            <a:spLocks noGrp="1" noChangeArrowheads="1"/>
          </p:cNvSpPr>
          <p:nvPr>
            <p:ph type="body" idx="1"/>
          </p:nvPr>
        </p:nvSpPr>
        <p:spPr bwMode="auto">
          <a:xfrm>
            <a:off x="1066800" y="1752600"/>
            <a:ext cx="1032962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successfully converts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chatbot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scripts into executable Python code.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reduces the need for manual coding and simplifies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chatbot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development.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use of parsing and rule-based logic ensures accurate code generation.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user-friendly and suitable for beginners.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it improves efficiency and provides a practical solution for automated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chatbot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creation.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1800" y="2514600"/>
            <a:ext cx="6745645" cy="1551707"/>
          </a:xfrm>
          <a:prstGeom prst="rect">
            <a:avLst/>
          </a:prstGeom>
        </p:spPr>
        <p:txBody>
          <a:bodyPr vert="horz" wrap="square" lIns="0" tIns="12700" rIns="0" bIns="0" rtlCol="0">
            <a:spAutoFit/>
          </a:bodyPr>
          <a:lstStyle/>
          <a:p>
            <a:pPr marL="12700" algn="ctr">
              <a:lnSpc>
                <a:spcPct val="100000"/>
              </a:lnSpc>
              <a:spcBef>
                <a:spcPts val="100"/>
              </a:spcBef>
            </a:pPr>
            <a:r>
              <a:rPr sz="10000" dirty="0">
                <a:solidFill>
                  <a:srgbClr val="2F5496"/>
                </a:solidFill>
              </a:rPr>
              <a:t>Thank</a:t>
            </a:r>
            <a:r>
              <a:rPr sz="10000" spc="-290" dirty="0">
                <a:solidFill>
                  <a:srgbClr val="2F5496"/>
                </a:solidFill>
              </a:rPr>
              <a:t> </a:t>
            </a:r>
            <a:r>
              <a:rPr sz="10000" spc="-775" dirty="0">
                <a:solidFill>
                  <a:srgbClr val="2F5496"/>
                </a:solidFill>
              </a:rPr>
              <a:t>Y</a:t>
            </a:r>
            <a:r>
              <a:rPr sz="10000" spc="15" dirty="0">
                <a:solidFill>
                  <a:srgbClr val="2F5496"/>
                </a:solidFill>
              </a:rPr>
              <a:t>ou!</a:t>
            </a:r>
            <a:endParaRPr sz="10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750</Words>
  <Application>Microsoft Office PowerPoint</Application>
  <PresentationFormat>Widescreen</PresentationFormat>
  <Paragraphs>75</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Times New Roman</vt:lpstr>
      <vt:lpstr>Wingdings</vt:lpstr>
      <vt:lpstr>Office Theme</vt:lpstr>
      <vt:lpstr>Design and Development of an AI-Powered Multi-Vendor E-Commerce Platform </vt:lpstr>
      <vt:lpstr>ABSTRACT</vt:lpstr>
      <vt:lpstr>PROBLEM STATEMENT</vt:lpstr>
      <vt:lpstr>OBJECTIVE</vt:lpstr>
      <vt:lpstr>PROPOSED SYSTEM</vt:lpstr>
      <vt:lpstr>TECHNOLOGIES USED</vt:lpstr>
      <vt:lpstr>SYSTEM ARCHITECTURE</vt:lpstr>
      <vt:lpstr>Module 1: User and Seller Management </vt:lpstr>
      <vt:lpstr>Module 2: Product and Order Management </vt:lpstr>
      <vt:lpstr>Module 3: AI Recommendation and Analytics Module</vt:lpstr>
      <vt:lpstr>Module 4: AI-Powered Product Recommendation and Personalized Shopping</vt:lpstr>
      <vt:lpstr>OUTPUT</vt:lpstr>
      <vt:lpstr>ADVANTAGES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11 CA.pptx</dc:title>
  <dc:creator>Hariprasad</dc:creator>
  <cp:lastModifiedBy>saravanan c</cp:lastModifiedBy>
  <cp:revision>11</cp:revision>
  <dcterms:created xsi:type="dcterms:W3CDTF">2025-12-23T02:57:00Z</dcterms:created>
  <dcterms:modified xsi:type="dcterms:W3CDTF">2026-10-23T03:02:18Z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2025-12-23T05:30:00Z</vt:filetime>
  </property>
  <property fmtid="{D5CDD505-2E9C-101B-9397-08002B2CF9AE}" pid="3" name="Creator">
    <vt:lpwstr>Google</vt:lpwstr>
  </property>
  <property fmtid="{D5CDD505-2E9C-101B-9397-08002B2CF9AE}" pid="4" name="LastSaved">
    <vt:filetime>2025-12-23T05:30:00Z</vt:filetime>
  </property>
  <property fmtid="{D5CDD505-2E9C-101B-9397-08002B2CF9AE}" pid="5" name="ICV">
    <vt:lpwstr>B80F0B820318478DB5301D07834E7AAF_13</vt:lpwstr>
  </property>
  <property fmtid="{D5CDD505-2E9C-101B-9397-08002B2CF9AE}" pid="6" name="KSOProductBuildVer">
    <vt:lpwstr>1033-12.2.0.23196</vt:lpwstr>
  </property>
</Properties>
</file>