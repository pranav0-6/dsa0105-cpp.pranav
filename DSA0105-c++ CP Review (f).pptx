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media/image1.jpeg" ContentType="image/jpeg"/>
  <Override PartName="/ppt/media/image2.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64" name="Shape 64"/>
          <p:cNvSpPr/>
          <p:nvPr>
            <p:ph type="sldImg"/>
          </p:nvPr>
        </p:nvSpPr>
        <p:spPr>
          <a:xfrm>
            <a:off x="1143000" y="685800"/>
            <a:ext cx="4572000" cy="3429000"/>
          </a:xfrm>
          <a:prstGeom prst="rect">
            <a:avLst/>
          </a:prstGeom>
        </p:spPr>
        <p:txBody>
          <a:bodyPr/>
          <a:lstStyle/>
          <a:p>
            <a:pPr/>
          </a:p>
        </p:txBody>
      </p:sp>
      <p:sp>
        <p:nvSpPr>
          <p:cNvPr id="65" name="Shape 6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Helvetica Neue"/>
      </a:defRPr>
    </a:lvl1pPr>
    <a:lvl2pPr indent="228600" latinLnBrk="0">
      <a:defRPr sz="1200">
        <a:latin typeface="+mn-lt"/>
        <a:ea typeface="+mn-ea"/>
        <a:cs typeface="+mn-cs"/>
        <a:sym typeface="Helvetica Neue"/>
      </a:defRPr>
    </a:lvl2pPr>
    <a:lvl3pPr indent="457200" latinLnBrk="0">
      <a:defRPr sz="1200">
        <a:latin typeface="+mn-lt"/>
        <a:ea typeface="+mn-ea"/>
        <a:cs typeface="+mn-cs"/>
        <a:sym typeface="Helvetica Neue"/>
      </a:defRPr>
    </a:lvl3pPr>
    <a:lvl4pPr indent="685800" latinLnBrk="0">
      <a:defRPr sz="1200">
        <a:latin typeface="+mn-lt"/>
        <a:ea typeface="+mn-ea"/>
        <a:cs typeface="+mn-cs"/>
        <a:sym typeface="Helvetica Neue"/>
      </a:defRPr>
    </a:lvl4pPr>
    <a:lvl5pPr indent="914400" latinLnBrk="0">
      <a:defRPr sz="1200">
        <a:latin typeface="+mn-lt"/>
        <a:ea typeface="+mn-ea"/>
        <a:cs typeface="+mn-cs"/>
        <a:sym typeface="Helvetica Neue"/>
      </a:defRPr>
    </a:lvl5pPr>
    <a:lvl6pPr indent="1143000" latinLnBrk="0">
      <a:defRPr sz="1200">
        <a:latin typeface="+mn-lt"/>
        <a:ea typeface="+mn-ea"/>
        <a:cs typeface="+mn-cs"/>
        <a:sym typeface="Helvetica Neue"/>
      </a:defRPr>
    </a:lvl6pPr>
    <a:lvl7pPr indent="1371600" latinLnBrk="0">
      <a:defRPr sz="1200">
        <a:latin typeface="+mn-lt"/>
        <a:ea typeface="+mn-ea"/>
        <a:cs typeface="+mn-cs"/>
        <a:sym typeface="Helvetica Neue"/>
      </a:defRPr>
    </a:lvl7pPr>
    <a:lvl8pPr indent="1600200" latinLnBrk="0">
      <a:defRPr sz="1200">
        <a:latin typeface="+mn-lt"/>
        <a:ea typeface="+mn-ea"/>
        <a:cs typeface="+mn-cs"/>
        <a:sym typeface="Helvetica Neue"/>
      </a:defRPr>
    </a:lvl8pPr>
    <a:lvl9pPr indent="1828800" latinLnBrk="0">
      <a:defRPr sz="1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jpe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3" name="Title Text"/>
          <p:cNvSpPr txBox="1"/>
          <p:nvPr>
            <p:ph type="title"/>
          </p:nvPr>
        </p:nvSpPr>
        <p:spPr>
          <a:xfrm>
            <a:off x="914400" y="2125979"/>
            <a:ext cx="10363200" cy="1440181"/>
          </a:xfrm>
          <a:prstGeom prst="rect">
            <a:avLst/>
          </a:prstGeom>
        </p:spPr>
        <p:txBody>
          <a:bodyPr>
            <a:normAutofit fontScale="100000" lnSpcReduction="0"/>
          </a:bodyPr>
          <a:lstStyle/>
          <a:p>
            <a:pPr/>
            <a:r>
              <a:t>Title Text</a:t>
            </a:r>
          </a:p>
        </p:txBody>
      </p:sp>
      <p:sp>
        <p:nvSpPr>
          <p:cNvPr id="14" name="Body Level One…"/>
          <p:cNvSpPr txBox="1"/>
          <p:nvPr>
            <p:ph type="body" sz="quarter" idx="1"/>
          </p:nvPr>
        </p:nvSpPr>
        <p:spPr>
          <a:xfrm>
            <a:off x="1828800" y="3840479"/>
            <a:ext cx="8534400" cy="1714501"/>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1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ontent">
    <p:spTree>
      <p:nvGrpSpPr>
        <p:cNvPr id="1" name=""/>
        <p:cNvGrpSpPr/>
        <p:nvPr/>
      </p:nvGrpSpPr>
      <p:grpSpPr>
        <a:xfrm>
          <a:off x="0" y="0"/>
          <a:ext cx="0" cy="0"/>
          <a:chOff x="0" y="0"/>
          <a:chExt cx="0" cy="0"/>
        </a:xfrm>
      </p:grpSpPr>
      <p:pic>
        <p:nvPicPr>
          <p:cNvPr id="22" name="bg object 16" descr="bg object 16"/>
          <p:cNvPicPr>
            <a:picLocks noChangeAspect="1"/>
          </p:cNvPicPr>
          <p:nvPr/>
        </p:nvPicPr>
        <p:blipFill>
          <a:blip r:embed="rId2">
            <a:extLst/>
          </a:blip>
          <a:stretch>
            <a:fillRect/>
          </a:stretch>
        </p:blipFill>
        <p:spPr>
          <a:xfrm>
            <a:off x="357352" y="191625"/>
            <a:ext cx="1135116" cy="1342883"/>
          </a:xfrm>
          <a:prstGeom prst="rect">
            <a:avLst/>
          </a:prstGeom>
          <a:ln w="12700">
            <a:miter lim="400000"/>
          </a:ln>
        </p:spPr>
      </p:pic>
      <p:pic>
        <p:nvPicPr>
          <p:cNvPr id="23" name="bg object 17" descr="bg object 17"/>
          <p:cNvPicPr>
            <a:picLocks noChangeAspect="1"/>
          </p:cNvPicPr>
          <p:nvPr/>
        </p:nvPicPr>
        <p:blipFill>
          <a:blip r:embed="rId3">
            <a:extLst/>
          </a:blip>
          <a:stretch>
            <a:fillRect/>
          </a:stretch>
        </p:blipFill>
        <p:spPr>
          <a:xfrm>
            <a:off x="10514231" y="191625"/>
            <a:ext cx="1520113" cy="1342883"/>
          </a:xfrm>
          <a:prstGeom prst="rect">
            <a:avLst/>
          </a:prstGeom>
          <a:ln w="12700">
            <a:miter lim="400000"/>
          </a:ln>
        </p:spPr>
      </p:pic>
      <p:sp>
        <p:nvSpPr>
          <p:cNvPr id="24" name="Title Text"/>
          <p:cNvSpPr txBox="1"/>
          <p:nvPr>
            <p:ph type="title"/>
          </p:nvPr>
        </p:nvSpPr>
        <p:spPr>
          <a:xfrm>
            <a:off x="1730555" y="194673"/>
            <a:ext cx="8543292" cy="1366521"/>
          </a:xfrm>
          <a:prstGeom prst="rect">
            <a:avLst/>
          </a:prstGeom>
        </p:spPr>
        <p:txBody>
          <a:bodyPr>
            <a:normAutofit fontScale="100000" lnSpcReduction="0"/>
          </a:bodyPr>
          <a:lstStyle/>
          <a:p>
            <a:pPr/>
            <a:r>
              <a:t>Title Text</a:t>
            </a:r>
          </a:p>
        </p:txBody>
      </p:sp>
      <p:sp>
        <p:nvSpPr>
          <p:cNvPr id="25" name="Body Level One…"/>
          <p:cNvSpPr txBox="1"/>
          <p:nvPr>
            <p:ph type="body" idx="1"/>
          </p:nvPr>
        </p:nvSpPr>
        <p:spPr>
          <a:xfrm>
            <a:off x="170977" y="1704357"/>
            <a:ext cx="11659166" cy="4453848"/>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3" name="Title Text"/>
          <p:cNvSpPr txBox="1"/>
          <p:nvPr>
            <p:ph type="title"/>
          </p:nvPr>
        </p:nvSpPr>
        <p:spPr>
          <a:xfrm>
            <a:off x="1730555" y="194673"/>
            <a:ext cx="8543292" cy="1366521"/>
          </a:xfrm>
          <a:prstGeom prst="rect">
            <a:avLst/>
          </a:prstGeom>
        </p:spPr>
        <p:txBody>
          <a:bodyPr>
            <a:normAutofit fontScale="100000" lnSpcReduction="0"/>
          </a:bodyPr>
          <a:lstStyle/>
          <a:p>
            <a:pPr/>
            <a:r>
              <a:t>Title Text</a:t>
            </a:r>
          </a:p>
        </p:txBody>
      </p:sp>
      <p:sp>
        <p:nvSpPr>
          <p:cNvPr id="34" name="Body Level One…"/>
          <p:cNvSpPr txBox="1"/>
          <p:nvPr>
            <p:ph type="body" sz="half" idx="1"/>
          </p:nvPr>
        </p:nvSpPr>
        <p:spPr>
          <a:xfrm>
            <a:off x="609600" y="1577339"/>
            <a:ext cx="5303521" cy="4526281"/>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p:spTree>
      <p:nvGrpSpPr>
        <p:cNvPr id="1" name=""/>
        <p:cNvGrpSpPr/>
        <p:nvPr/>
      </p:nvGrpSpPr>
      <p:grpSpPr>
        <a:xfrm>
          <a:off x="0" y="0"/>
          <a:ext cx="0" cy="0"/>
          <a:chOff x="0" y="0"/>
          <a:chExt cx="0" cy="0"/>
        </a:xfrm>
      </p:grpSpPr>
      <p:sp>
        <p:nvSpPr>
          <p:cNvPr id="42" name="Title Text"/>
          <p:cNvSpPr txBox="1"/>
          <p:nvPr>
            <p:ph type="title"/>
          </p:nvPr>
        </p:nvSpPr>
        <p:spPr>
          <a:xfrm>
            <a:off x="1730555" y="194673"/>
            <a:ext cx="8543292" cy="1366521"/>
          </a:xfrm>
          <a:prstGeom prst="rect">
            <a:avLst/>
          </a:prstGeom>
        </p:spPr>
        <p:txBody>
          <a:bodyPr>
            <a:normAutofit fontScale="100000" lnSpcReduction="0"/>
          </a:bodyPr>
          <a:lstStyle/>
          <a:p>
            <a:pPr/>
            <a:r>
              <a:t>Title Text</a:t>
            </a:r>
          </a:p>
        </p:txBody>
      </p:sp>
      <p:sp>
        <p:nvSpPr>
          <p:cNvPr id="4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0">
    <p:spTree>
      <p:nvGrpSpPr>
        <p:cNvPr id="1" name=""/>
        <p:cNvGrpSpPr/>
        <p:nvPr/>
      </p:nvGrpSpPr>
      <p:grpSpPr>
        <a:xfrm>
          <a:off x="0" y="0"/>
          <a:ext cx="0" cy="0"/>
          <a:chOff x="0" y="0"/>
          <a:chExt cx="0" cy="0"/>
        </a:xfrm>
      </p:grpSpPr>
      <p:sp>
        <p:nvSpPr>
          <p:cNvPr id="50" name="Title Text"/>
          <p:cNvSpPr txBox="1"/>
          <p:nvPr>
            <p:ph type="title"/>
          </p:nvPr>
        </p:nvSpPr>
        <p:spPr>
          <a:xfrm>
            <a:off x="1730555" y="194673"/>
            <a:ext cx="8543292" cy="1366521"/>
          </a:xfrm>
          <a:prstGeom prst="rect">
            <a:avLst/>
          </a:prstGeom>
        </p:spPr>
        <p:txBody>
          <a:bodyPr>
            <a:normAutofit fontScale="100000" lnSpcReduction="0"/>
          </a:bodyPr>
          <a:lstStyle/>
          <a:p>
            <a:pPr/>
            <a:r>
              <a:t>Title Text</a:t>
            </a:r>
          </a:p>
        </p:txBody>
      </p:sp>
      <p:sp>
        <p:nvSpPr>
          <p:cNvPr id="5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bg object 16" descr="bg object 16"/>
          <p:cNvPicPr>
            <a:picLocks noChangeAspect="1"/>
          </p:cNvPicPr>
          <p:nvPr/>
        </p:nvPicPr>
        <p:blipFill>
          <a:blip r:embed="rId2">
            <a:extLst/>
          </a:blip>
          <a:stretch>
            <a:fillRect/>
          </a:stretch>
        </p:blipFill>
        <p:spPr>
          <a:xfrm>
            <a:off x="357352" y="191625"/>
            <a:ext cx="1135116" cy="1342883"/>
          </a:xfrm>
          <a:prstGeom prst="rect">
            <a:avLst/>
          </a:prstGeom>
          <a:ln w="12700">
            <a:miter lim="400000"/>
          </a:ln>
        </p:spPr>
      </p:pic>
      <p:pic>
        <p:nvPicPr>
          <p:cNvPr id="3" name="bg object 17" descr="bg object 17"/>
          <p:cNvPicPr>
            <a:picLocks noChangeAspect="1"/>
          </p:cNvPicPr>
          <p:nvPr/>
        </p:nvPicPr>
        <p:blipFill>
          <a:blip r:embed="rId3">
            <a:extLst/>
          </a:blip>
          <a:stretch>
            <a:fillRect/>
          </a:stretch>
        </p:blipFill>
        <p:spPr>
          <a:xfrm>
            <a:off x="10514231" y="191625"/>
            <a:ext cx="1520113" cy="1342883"/>
          </a:xfrm>
          <a:prstGeom prst="rect">
            <a:avLst/>
          </a:prstGeom>
          <a:ln w="12700">
            <a:miter lim="400000"/>
          </a:ln>
        </p:spPr>
      </p:pic>
      <p:sp>
        <p:nvSpPr>
          <p:cNvPr id="4" name="Title Text"/>
          <p:cNvSpPr txBox="1"/>
          <p:nvPr>
            <p:ph type="title"/>
          </p:nvPr>
        </p:nvSpPr>
        <p:spPr>
          <a:xfrm>
            <a:off x="609600" y="274637"/>
            <a:ext cx="10972800" cy="1325564"/>
          </a:xfrm>
          <a:prstGeom prst="rect">
            <a:avLst/>
          </a:prstGeom>
          <a:ln w="12700">
            <a:miter lim="400000"/>
          </a:ln>
          <a:extLst>
            <a:ext uri="{C572A759-6A51-4108-AA02-DFA0A04FC94B}">
              <ma14:wrappingTextBoxFlag xmlns:ma14="http://schemas.microsoft.com/office/mac/drawingml/2011/main" val="1"/>
            </a:ext>
          </a:extLst>
        </p:spPr>
        <p:txBody>
          <a:bodyPr lIns="0" tIns="0" rIns="0" bIns="0"/>
          <a:lstStyle/>
          <a:p>
            <a:pPr/>
            <a:r>
              <a:t>Title Text</a:t>
            </a:r>
          </a:p>
        </p:txBody>
      </p:sp>
      <p:sp>
        <p:nvSpPr>
          <p:cNvPr id="5"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0" tIns="0" rIns="0" bIns="0"/>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11315427" y="6377940"/>
            <a:ext cx="266974" cy="279401"/>
          </a:xfrm>
          <a:prstGeom prst="rect">
            <a:avLst/>
          </a:prstGeom>
          <a:ln w="12700">
            <a:miter lim="400000"/>
          </a:ln>
        </p:spPr>
        <p:txBody>
          <a:bodyPr wrap="none" lIns="0" tIns="0" rIns="0" bIns="0">
            <a:spAutoFit/>
          </a:bodyPr>
          <a:lstStyle>
            <a:lvl1pPr algn="r">
              <a:defRPr>
                <a:solidFill>
                  <a:srgbClr val="888888"/>
                </a:solidFill>
                <a:latin typeface="+mj-lt"/>
                <a:ea typeface="+mj-ea"/>
                <a:cs typeface="+mj-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1pPr>
      <a:lvl2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2pPr>
      <a:lvl3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3pPr>
      <a:lvl4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4pPr>
      <a:lvl5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5pPr>
      <a:lvl6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6pPr>
      <a:lvl7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7pPr>
      <a:lvl8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8pPr>
      <a:lvl9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9pPr>
    </p:titleStyle>
    <p:bodyStyle>
      <a:lvl1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1pPr>
      <a:lvl2pPr marL="0" marR="0" indent="45720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2pPr>
      <a:lvl3pPr marL="0" marR="0" indent="91440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3pPr>
      <a:lvl4pPr marL="0" marR="0" indent="137160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4pPr>
      <a:lvl5pPr marL="0" marR="0" indent="182880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5pPr>
      <a:lvl6pPr marL="0" marR="0" indent="228600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6pPr>
      <a:lvl7pPr marL="0" marR="0" indent="274320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7pPr>
      <a:lvl8pPr marL="0" marR="0" indent="320040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8pPr>
      <a:lvl9pPr marL="0" marR="0" indent="365760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object 2"/>
          <p:cNvSpPr txBox="1"/>
          <p:nvPr>
            <p:ph type="title"/>
          </p:nvPr>
        </p:nvSpPr>
        <p:spPr>
          <a:xfrm>
            <a:off x="1704340" y="533399"/>
            <a:ext cx="8935720" cy="2044151"/>
          </a:xfrm>
          <a:prstGeom prst="rect">
            <a:avLst/>
          </a:prstGeom>
        </p:spPr>
        <p:txBody>
          <a:bodyPr/>
          <a:lstStyle>
            <a:lvl1pPr marL="2539" marR="5080" indent="7620" algn="ctr">
              <a:spcBef>
                <a:spcPts val="100"/>
              </a:spcBef>
              <a:defRPr>
                <a:solidFill>
                  <a:srgbClr val="FF0000"/>
                </a:solidFill>
              </a:defRPr>
            </a:lvl1pPr>
          </a:lstStyle>
          <a:p>
            <a:pPr/>
            <a:r>
              <a:t>Design and Development of an AI-Powered Multi-Vendor E-Commerce Platform </a:t>
            </a:r>
          </a:p>
        </p:txBody>
      </p:sp>
      <p:sp>
        <p:nvSpPr>
          <p:cNvPr id="68" name="object 3"/>
          <p:cNvSpPr txBox="1"/>
          <p:nvPr/>
        </p:nvSpPr>
        <p:spPr>
          <a:xfrm>
            <a:off x="685800" y="2588979"/>
            <a:ext cx="11353800" cy="323933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indent="5714" algn="ctr">
              <a:lnSpc>
                <a:spcPts val="2800"/>
              </a:lnSpc>
              <a:defRPr sz="2200">
                <a:solidFill>
                  <a:srgbClr val="002060"/>
                </a:solidFill>
                <a:latin typeface="Times New Roman"/>
                <a:ea typeface="Times New Roman"/>
                <a:cs typeface="Times New Roman"/>
                <a:sym typeface="Times New Roman"/>
              </a:defRPr>
            </a:pPr>
          </a:p>
          <a:p>
            <a:pPr algn="ctr">
              <a:spcBef>
                <a:spcPts val="100"/>
              </a:spcBef>
              <a:defRPr b="1" sz="2200">
                <a:solidFill>
                  <a:srgbClr val="002060"/>
                </a:solidFill>
                <a:latin typeface="Times New Roman"/>
                <a:ea typeface="Times New Roman"/>
                <a:cs typeface="Times New Roman"/>
                <a:sym typeface="Times New Roman"/>
              </a:defRPr>
            </a:pPr>
            <a:r>
              <a:t>DSA0105-Object Oriented Programming with C++</a:t>
            </a:r>
            <a:endParaRPr spc="-25"/>
          </a:p>
          <a:p>
            <a:pPr algn="ctr">
              <a:spcBef>
                <a:spcPts val="100"/>
              </a:spcBef>
              <a:defRPr b="1" spc="-25" sz="2200">
                <a:solidFill>
                  <a:srgbClr val="002060"/>
                </a:solidFill>
                <a:latin typeface="Times New Roman"/>
                <a:ea typeface="Times New Roman"/>
                <a:cs typeface="Times New Roman"/>
                <a:sym typeface="Times New Roman"/>
              </a:defRPr>
            </a:pPr>
          </a:p>
          <a:p>
            <a:pPr marR="2098675" indent="2985769" algn="ctr">
              <a:lnSpc>
                <a:spcPts val="3000"/>
              </a:lnSpc>
              <a:tabLst>
                <a:tab pos="3962400" algn="l"/>
              </a:tabLst>
              <a:defRPr b="1" spc="-9" sz="2200">
                <a:solidFill>
                  <a:srgbClr val="002060"/>
                </a:solidFill>
                <a:latin typeface="Times New Roman"/>
                <a:ea typeface="Times New Roman"/>
                <a:cs typeface="Times New Roman"/>
                <a:sym typeface="Times New Roman"/>
              </a:defRPr>
            </a:pPr>
            <a:r>
              <a:t>Presented</a:t>
            </a:r>
            <a:r>
              <a:rPr spc="-79"/>
              <a:t> </a:t>
            </a:r>
            <a:r>
              <a:rPr spc="-25"/>
              <a:t>by </a:t>
            </a:r>
            <a:r>
              <a:rPr spc="-19"/>
              <a:t>Hariprasad R</a:t>
            </a:r>
            <a:r>
              <a:rPr spc="0"/>
              <a:t>	</a:t>
            </a:r>
            <a:r>
              <a:t>(19242</a:t>
            </a:r>
            <a:r>
              <a:t>1179</a:t>
            </a:r>
            <a:r>
              <a:t>)</a:t>
            </a:r>
          </a:p>
          <a:p>
            <a:pPr marR="2098675" indent="2985769" algn="ctr">
              <a:lnSpc>
                <a:spcPts val="3000"/>
              </a:lnSpc>
              <a:tabLst>
                <a:tab pos="3962400" algn="l"/>
              </a:tabLst>
              <a:defRPr b="1" spc="-9" sz="2200">
                <a:solidFill>
                  <a:srgbClr val="002060"/>
                </a:solidFill>
                <a:latin typeface="Times New Roman"/>
                <a:ea typeface="Times New Roman"/>
                <a:cs typeface="Times New Roman"/>
                <a:sym typeface="Times New Roman"/>
              </a:defRPr>
            </a:pPr>
            <a:r>
              <a:t>Pranav Manikandan S (1924260328)</a:t>
            </a:r>
          </a:p>
          <a:p>
            <a:pPr marR="2098675" indent="2985769" algn="ctr">
              <a:lnSpc>
                <a:spcPts val="3000"/>
              </a:lnSpc>
              <a:tabLst>
                <a:tab pos="3962400" algn="l"/>
              </a:tabLst>
              <a:defRPr b="1" spc="-9" sz="2200">
                <a:solidFill>
                  <a:srgbClr val="002060"/>
                </a:solidFill>
                <a:latin typeface="Times New Roman"/>
                <a:ea typeface="Times New Roman"/>
                <a:cs typeface="Times New Roman"/>
                <a:sym typeface="Times New Roman"/>
              </a:defRPr>
            </a:pPr>
            <a:r>
              <a:t>Jayanth C (1925260087) </a:t>
            </a:r>
          </a:p>
          <a:p>
            <a:pPr marR="2098675" indent="2985769" algn="ctr">
              <a:lnSpc>
                <a:spcPts val="3000"/>
              </a:lnSpc>
              <a:tabLst>
                <a:tab pos="3962400" algn="l"/>
              </a:tabLst>
              <a:defRPr b="1" spc="-9" sz="2200">
                <a:solidFill>
                  <a:srgbClr val="002060"/>
                </a:solidFill>
                <a:latin typeface="Times New Roman"/>
                <a:ea typeface="Times New Roman"/>
                <a:cs typeface="Times New Roman"/>
                <a:sym typeface="Times New Roman"/>
              </a:defRPr>
            </a:pPr>
            <a:r>
              <a:t>Arivazhagan M (1965260132)</a:t>
            </a:r>
          </a:p>
          <a:p>
            <a:pPr indent="5714" algn="ctr">
              <a:lnSpc>
                <a:spcPts val="2800"/>
              </a:lnSpc>
              <a:defRPr sz="2200">
                <a:solidFill>
                  <a:srgbClr val="002060"/>
                </a:solidFill>
                <a:latin typeface="Times New Roman"/>
                <a:ea typeface="Times New Roman"/>
                <a:cs typeface="Times New Roman"/>
                <a:sym typeface="Times New Roman"/>
              </a:defRPr>
            </a:pPr>
          </a:p>
          <a:p>
            <a:pPr marR="2854325" indent="2908300" algn="ctr">
              <a:lnSpc>
                <a:spcPct val="104000"/>
              </a:lnSpc>
              <a:defRPr b="1" spc="-9" sz="2200">
                <a:solidFill>
                  <a:srgbClr val="002060"/>
                </a:solidFill>
                <a:latin typeface="Times New Roman"/>
                <a:ea typeface="Times New Roman"/>
                <a:cs typeface="Times New Roman"/>
                <a:sym typeface="Times New Roman"/>
              </a:defRPr>
            </a:pPr>
            <a:r>
              <a:t>Supervised</a:t>
            </a:r>
            <a:r>
              <a:rPr spc="-65"/>
              <a:t> </a:t>
            </a:r>
            <a:r>
              <a:rPr spc="-25"/>
              <a:t>by</a:t>
            </a:r>
          </a:p>
        </p:txBody>
      </p:sp>
      <p:sp>
        <p:nvSpPr>
          <p:cNvPr id="69" name="TextBox 5"/>
          <p:cNvSpPr txBox="1"/>
          <p:nvPr/>
        </p:nvSpPr>
        <p:spPr>
          <a:xfrm>
            <a:off x="5074919" y="5943600"/>
            <a:ext cx="2575562" cy="42139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400">
                <a:solidFill>
                  <a:srgbClr val="002060"/>
                </a:solidFill>
                <a:latin typeface="Times New Roman"/>
                <a:ea typeface="Times New Roman"/>
                <a:cs typeface="Times New Roman"/>
                <a:sym typeface="Times New Roman"/>
              </a:defRPr>
            </a:lvl1pPr>
          </a:lstStyle>
          <a:p>
            <a:pPr/>
            <a:r>
              <a:t>Mr.Jagadeesh K</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 name="object 2"/>
          <p:cNvSpPr txBox="1"/>
          <p:nvPr>
            <p:ph type="title"/>
          </p:nvPr>
        </p:nvSpPr>
        <p:spPr>
          <a:xfrm>
            <a:off x="3848100" y="602298"/>
            <a:ext cx="4495800" cy="1102060"/>
          </a:xfrm>
          <a:prstGeom prst="rect">
            <a:avLst/>
          </a:prstGeom>
        </p:spPr>
        <p:txBody>
          <a:bodyPr/>
          <a:lstStyle>
            <a:lvl1pPr algn="ctr">
              <a:spcBef>
                <a:spcPts val="100"/>
              </a:spcBef>
              <a:defRPr spc="-100"/>
            </a:lvl1pPr>
          </a:lstStyle>
          <a:p>
            <a:pPr/>
            <a:r>
              <a:t>ABSTRACT</a:t>
            </a:r>
          </a:p>
        </p:txBody>
      </p:sp>
      <p:sp>
        <p:nvSpPr>
          <p:cNvPr id="72" name="Rectangle 2"/>
          <p:cNvSpPr txBox="1"/>
          <p:nvPr>
            <p:ph type="body" idx="1"/>
          </p:nvPr>
        </p:nvSpPr>
        <p:spPr>
          <a:xfrm>
            <a:off x="685800" y="2181998"/>
            <a:ext cx="10972800" cy="3416322"/>
          </a:xfrm>
          <a:prstGeom prst="rect">
            <a:avLst/>
          </a:prstGeom>
        </p:spPr>
        <p:txBody>
          <a:bodyPr lIns="45719" tIns="45719" rIns="45719" bIns="45719" anchor="ctr"/>
          <a:lstStyle>
            <a:lvl1pPr algn="just"/>
          </a:lstStyle>
          <a:p>
            <a:pPr/>
            <a:r>
              <a:t>The project titled “Design and Development of an AI-Powered Multi-Vendor E-Commerce Platform” aims to develop an online shopping system using C++. The platform allows customers and sellers to register, manage products, and process orders. Customers can browse products, add items to their shopping cart, and purchase products from different sellers. The AI recommendation system analyzes customer preferences, product categories, ratings, and purchase history to suggest suitable products. The system also helps identify popular products and improve the shopping experience. The main goal is to provide a simple, efficient, and personalized e-commerce platform for customers and sellers.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 name="object 2"/>
          <p:cNvSpPr txBox="1"/>
          <p:nvPr>
            <p:ph type="title"/>
          </p:nvPr>
        </p:nvSpPr>
        <p:spPr>
          <a:xfrm>
            <a:off x="2590799" y="914399"/>
            <a:ext cx="6718049" cy="689934"/>
          </a:xfrm>
          <a:prstGeom prst="rect">
            <a:avLst/>
          </a:prstGeom>
        </p:spPr>
        <p:txBody>
          <a:bodyPr/>
          <a:lstStyle>
            <a:lvl1pPr marL="1500505" marR="5080" indent="-1488440" algn="ctr">
              <a:spcBef>
                <a:spcPts val="100"/>
              </a:spcBef>
              <a:tabLst>
                <a:tab pos="2184400" algn="l"/>
                <a:tab pos="4749800" algn="l"/>
              </a:tabLst>
              <a:defRPr spc="-100"/>
            </a:lvl1pPr>
          </a:lstStyle>
          <a:p>
            <a:pPr/>
            <a:r>
              <a:t>PROBLEM STATEMENT</a:t>
            </a:r>
          </a:p>
        </p:txBody>
      </p:sp>
      <p:sp>
        <p:nvSpPr>
          <p:cNvPr id="75" name="Rectangle 2"/>
          <p:cNvSpPr txBox="1"/>
          <p:nvPr/>
        </p:nvSpPr>
        <p:spPr>
          <a:xfrm>
            <a:off x="1042542" y="2026495"/>
            <a:ext cx="9814561" cy="397652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lgn="just">
              <a:lnSpc>
                <a:spcPct val="150000"/>
              </a:lnSpc>
              <a:buSzPct val="100000"/>
              <a:buChar char="➢"/>
              <a:defRPr sz="2400">
                <a:latin typeface="Times New Roman"/>
                <a:ea typeface="Times New Roman"/>
                <a:cs typeface="Times New Roman"/>
                <a:sym typeface="Times New Roman"/>
              </a:defRPr>
            </a:pPr>
            <a:r>
              <a:t>Managing products from multiple sellers on a single platform is challenging.</a:t>
            </a:r>
          </a:p>
          <a:p>
            <a:pPr marL="342900" indent="-342900" algn="just">
              <a:lnSpc>
                <a:spcPct val="150000"/>
              </a:lnSpc>
              <a:buSzPct val="100000"/>
              <a:buChar char="➢"/>
              <a:defRPr sz="2400">
                <a:latin typeface="Times New Roman"/>
                <a:ea typeface="Times New Roman"/>
                <a:cs typeface="Times New Roman"/>
                <a:sym typeface="Times New Roman"/>
              </a:defRPr>
            </a:pPr>
            <a:r>
              <a:t>Customers may find it difficult to identify suitable products from a large collection.</a:t>
            </a:r>
          </a:p>
          <a:p>
            <a:pPr marL="342900" indent="-342900" algn="just">
              <a:lnSpc>
                <a:spcPct val="150000"/>
              </a:lnSpc>
              <a:buSzPct val="100000"/>
              <a:buChar char="➢"/>
              <a:defRPr sz="2400">
                <a:latin typeface="Times New Roman"/>
                <a:ea typeface="Times New Roman"/>
                <a:cs typeface="Times New Roman"/>
                <a:sym typeface="Times New Roman"/>
              </a:defRPr>
            </a:pPr>
            <a:r>
              <a:t>Manual product and order management can lead to errors.</a:t>
            </a:r>
          </a:p>
          <a:p>
            <a:pPr marL="342900" indent="-342900" algn="just">
              <a:lnSpc>
                <a:spcPct val="150000"/>
              </a:lnSpc>
              <a:buSzPct val="100000"/>
              <a:buChar char="➢"/>
              <a:defRPr sz="2400">
                <a:latin typeface="Times New Roman"/>
                <a:ea typeface="Times New Roman"/>
                <a:cs typeface="Times New Roman"/>
                <a:sym typeface="Times New Roman"/>
              </a:defRPr>
            </a:pPr>
            <a:r>
              <a:t>Traditional shopping systems provide limited personalized product recommendations.</a:t>
            </a:r>
          </a:p>
          <a:p>
            <a:pPr marL="342900" indent="-342900" algn="just">
              <a:lnSpc>
                <a:spcPct val="150000"/>
              </a:lnSpc>
              <a:buSzPct val="100000"/>
              <a:buChar char="➢"/>
              <a:defRPr sz="2400">
                <a:latin typeface="Times New Roman"/>
                <a:ea typeface="Times New Roman"/>
                <a:cs typeface="Times New Roman"/>
                <a:sym typeface="Times New Roman"/>
              </a:defRPr>
            </a:pPr>
            <a:r>
              <a:t>An AI-powered system is needed to improve product discovery, order management, and customer shopping experience.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 name="object 2"/>
          <p:cNvSpPr txBox="1"/>
          <p:nvPr>
            <p:ph type="title"/>
          </p:nvPr>
        </p:nvSpPr>
        <p:spPr>
          <a:xfrm>
            <a:off x="4381500" y="685799"/>
            <a:ext cx="3429000" cy="689934"/>
          </a:xfrm>
          <a:prstGeom prst="rect">
            <a:avLst/>
          </a:prstGeom>
        </p:spPr>
        <p:txBody>
          <a:bodyPr/>
          <a:lstStyle>
            <a:lvl1pPr marL="1500505" marR="5080" indent="-1488440">
              <a:spcBef>
                <a:spcPts val="100"/>
              </a:spcBef>
              <a:tabLst>
                <a:tab pos="2184400" algn="l"/>
                <a:tab pos="4749800" algn="l"/>
              </a:tabLst>
              <a:defRPr spc="-100"/>
            </a:lvl1pPr>
          </a:lstStyle>
          <a:p>
            <a:pPr/>
            <a:r>
              <a:t>OBJECTIVE</a:t>
            </a:r>
          </a:p>
        </p:txBody>
      </p:sp>
      <p:sp>
        <p:nvSpPr>
          <p:cNvPr id="78" name="Rectangle 1"/>
          <p:cNvSpPr txBox="1"/>
          <p:nvPr/>
        </p:nvSpPr>
        <p:spPr>
          <a:xfrm>
            <a:off x="1836419" y="2402091"/>
            <a:ext cx="9624062" cy="31128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lgn="just">
              <a:lnSpc>
                <a:spcPct val="200000"/>
              </a:lnSpc>
              <a:buSzPct val="100000"/>
              <a:buChar char="➢"/>
              <a:defRPr sz="2400">
                <a:latin typeface="Times New Roman"/>
                <a:ea typeface="Times New Roman"/>
                <a:cs typeface="Times New Roman"/>
                <a:sym typeface="Times New Roman"/>
              </a:defRPr>
            </a:pPr>
            <a:r>
              <a:t>To develop secure customer and seller registration and login.</a:t>
            </a:r>
          </a:p>
          <a:p>
            <a:pPr marL="342900" indent="-342900" algn="just">
              <a:lnSpc>
                <a:spcPct val="200000"/>
              </a:lnSpc>
              <a:buSzPct val="100000"/>
              <a:buChar char="➢"/>
              <a:defRPr sz="2400">
                <a:latin typeface="Times New Roman"/>
                <a:ea typeface="Times New Roman"/>
                <a:cs typeface="Times New Roman"/>
                <a:sym typeface="Times New Roman"/>
              </a:defRPr>
            </a:pPr>
            <a:r>
              <a:t>To manage products, prices, stock, and customer orders.</a:t>
            </a:r>
          </a:p>
          <a:p>
            <a:pPr marL="342900" indent="-342900" algn="just">
              <a:lnSpc>
                <a:spcPct val="200000"/>
              </a:lnSpc>
              <a:buSzPct val="100000"/>
              <a:buChar char="➢"/>
              <a:defRPr sz="2400">
                <a:latin typeface="Times New Roman"/>
                <a:ea typeface="Times New Roman"/>
                <a:cs typeface="Times New Roman"/>
                <a:sym typeface="Times New Roman"/>
              </a:defRPr>
            </a:pPr>
            <a:r>
              <a:t>To implement AI-based product recommendation techniques.</a:t>
            </a:r>
          </a:p>
          <a:p>
            <a:pPr marL="342900" indent="-342900" algn="just">
              <a:lnSpc>
                <a:spcPct val="200000"/>
              </a:lnSpc>
              <a:buSzPct val="100000"/>
              <a:buChar char="➢"/>
              <a:defRPr sz="2400">
                <a:latin typeface="Times New Roman"/>
                <a:ea typeface="Times New Roman"/>
                <a:cs typeface="Times New Roman"/>
                <a:sym typeface="Times New Roman"/>
              </a:defRPr>
            </a:pPr>
            <a:r>
              <a:t>To provide personalized shopping suggestions based on customer interests.</a:t>
            </a:r>
          </a:p>
          <a:p>
            <a:pPr marL="342900" indent="-342900" algn="just">
              <a:lnSpc>
                <a:spcPct val="200000"/>
              </a:lnSpc>
              <a:buSzPct val="100000"/>
              <a:buChar char="➢"/>
              <a:defRPr sz="2400">
                <a:latin typeface="Times New Roman"/>
                <a:ea typeface="Times New Roman"/>
                <a:cs typeface="Times New Roman"/>
                <a:sym typeface="Times New Roman"/>
              </a:defRPr>
            </a:pPr>
            <a:r>
              <a:t>To improve product discovery and simplify online shopping.</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 name="object 2"/>
          <p:cNvSpPr txBox="1"/>
          <p:nvPr>
            <p:ph type="title"/>
          </p:nvPr>
        </p:nvSpPr>
        <p:spPr>
          <a:xfrm>
            <a:off x="3276600" y="838199"/>
            <a:ext cx="5829300" cy="689934"/>
          </a:xfrm>
          <a:prstGeom prst="rect">
            <a:avLst/>
          </a:prstGeom>
        </p:spPr>
        <p:txBody>
          <a:bodyPr/>
          <a:lstStyle>
            <a:lvl1pPr marL="1500505" marR="5080" indent="-1488440" algn="ctr">
              <a:spcBef>
                <a:spcPts val="100"/>
              </a:spcBef>
              <a:tabLst>
                <a:tab pos="2184400" algn="l"/>
                <a:tab pos="4749800" algn="l"/>
              </a:tabLst>
              <a:defRPr spc="-100"/>
            </a:lvl1pPr>
          </a:lstStyle>
          <a:p>
            <a:pPr/>
            <a:r>
              <a:t>PROPOSED SYSTEM</a:t>
            </a:r>
          </a:p>
        </p:txBody>
      </p:sp>
      <p:sp>
        <p:nvSpPr>
          <p:cNvPr id="81" name="Rectangle 3"/>
          <p:cNvSpPr txBox="1"/>
          <p:nvPr/>
        </p:nvSpPr>
        <p:spPr>
          <a:xfrm>
            <a:off x="960119" y="1997838"/>
            <a:ext cx="10195562" cy="346864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lnSpc>
                <a:spcPct val="150000"/>
              </a:lnSpc>
              <a:defRPr sz="2400">
                <a:latin typeface="Times New Roman"/>
                <a:ea typeface="Times New Roman"/>
                <a:cs typeface="Times New Roman"/>
                <a:sym typeface="Times New Roman"/>
              </a:defRPr>
            </a:lvl1pPr>
          </a:lstStyle>
          <a:p>
            <a:pPr/>
            <a:r>
              <a:t>The proposed system uses C++ to manage customers, sellers, products, and orders. Customers can browse available products, add items to their cart, and place orders. Sellers can add, update, and manage their products. The AI recommendation component analyzes product categories, ratings, and purchase history to suggest relevant products. Compared with a basic shopping system, the proposed solution offers personalized recommendations and centralized management of multiple sellers.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 name="object 2"/>
          <p:cNvSpPr txBox="1"/>
          <p:nvPr>
            <p:ph type="title"/>
          </p:nvPr>
        </p:nvSpPr>
        <p:spPr>
          <a:xfrm>
            <a:off x="3276600" y="838199"/>
            <a:ext cx="6400800" cy="689934"/>
          </a:xfrm>
          <a:prstGeom prst="rect">
            <a:avLst/>
          </a:prstGeom>
        </p:spPr>
        <p:txBody>
          <a:bodyPr/>
          <a:lstStyle>
            <a:lvl1pPr marL="1500505" marR="5080" indent="-1488440" algn="ctr">
              <a:spcBef>
                <a:spcPts val="100"/>
              </a:spcBef>
              <a:tabLst>
                <a:tab pos="2184400" algn="l"/>
                <a:tab pos="4749800" algn="l"/>
              </a:tabLst>
              <a:defRPr spc="-100"/>
            </a:lvl1pPr>
          </a:lstStyle>
          <a:p>
            <a:pPr/>
            <a:r>
              <a:t>TECHNOLOGIES USED</a:t>
            </a:r>
          </a:p>
        </p:txBody>
      </p:sp>
      <p:sp>
        <p:nvSpPr>
          <p:cNvPr id="84" name="TextBox 4"/>
          <p:cNvSpPr txBox="1"/>
          <p:nvPr/>
        </p:nvSpPr>
        <p:spPr>
          <a:xfrm>
            <a:off x="1245678" y="1676399"/>
            <a:ext cx="10062403" cy="44844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lgn="just">
              <a:lnSpc>
                <a:spcPct val="150000"/>
              </a:lnSpc>
              <a:buSzPct val="100000"/>
              <a:buChar char="➢"/>
              <a:defRPr spc="12" sz="2400">
                <a:latin typeface="Times New Roman"/>
                <a:ea typeface="Times New Roman"/>
                <a:cs typeface="Times New Roman"/>
                <a:sym typeface="Times New Roman"/>
              </a:defRPr>
            </a:pPr>
            <a:r>
              <a:t>C++ – Backend development and product recommendation logic. </a:t>
            </a:r>
          </a:p>
          <a:p>
            <a:pPr marL="342900" indent="-342900" algn="just">
              <a:lnSpc>
                <a:spcPct val="150000"/>
              </a:lnSpc>
              <a:buSzPct val="100000"/>
              <a:buChar char="➢"/>
              <a:defRPr spc="12" sz="2400">
                <a:latin typeface="Times New Roman"/>
                <a:ea typeface="Times New Roman"/>
                <a:cs typeface="Times New Roman"/>
                <a:sym typeface="Times New Roman"/>
              </a:defRPr>
            </a:pPr>
            <a:r>
              <a:t>HTML – Creates the website structure. </a:t>
            </a:r>
          </a:p>
          <a:p>
            <a:pPr marL="342900" indent="-342900" algn="just">
              <a:lnSpc>
                <a:spcPct val="150000"/>
              </a:lnSpc>
              <a:buSzPct val="100000"/>
              <a:buChar char="➢"/>
              <a:defRPr spc="12" sz="2400">
                <a:latin typeface="Times New Roman"/>
                <a:ea typeface="Times New Roman"/>
                <a:cs typeface="Times New Roman"/>
                <a:sym typeface="Times New Roman"/>
              </a:defRPr>
            </a:pPr>
            <a:r>
              <a:t>CSS – Designs and styles the website. </a:t>
            </a:r>
          </a:p>
          <a:p>
            <a:pPr marL="342900" indent="-342900" algn="just">
              <a:lnSpc>
                <a:spcPct val="150000"/>
              </a:lnSpc>
              <a:buSzPct val="100000"/>
              <a:buChar char="➢"/>
              <a:defRPr spc="12" sz="2400">
                <a:latin typeface="Times New Roman"/>
                <a:ea typeface="Times New Roman"/>
                <a:cs typeface="Times New Roman"/>
                <a:sym typeface="Times New Roman"/>
              </a:defRPr>
            </a:pPr>
            <a:r>
              <a:t>JavaScript – Handles search, shopping cart, and interactive features. </a:t>
            </a:r>
          </a:p>
          <a:p>
            <a:pPr marL="342900" indent="-342900" algn="just">
              <a:lnSpc>
                <a:spcPct val="150000"/>
              </a:lnSpc>
              <a:buSzPct val="100000"/>
              <a:buChar char="➢"/>
              <a:defRPr spc="12" sz="2400">
                <a:latin typeface="Times New Roman"/>
                <a:ea typeface="Times New Roman"/>
                <a:cs typeface="Times New Roman"/>
                <a:sym typeface="Times New Roman"/>
              </a:defRPr>
            </a:pPr>
            <a:r>
              <a:t>GCC (MinGW) – Compiles and runs the C++ program. </a:t>
            </a:r>
          </a:p>
          <a:p>
            <a:pPr marL="342900" indent="-342900" algn="just">
              <a:lnSpc>
                <a:spcPct val="150000"/>
              </a:lnSpc>
              <a:buSzPct val="100000"/>
              <a:buChar char="➢"/>
              <a:defRPr spc="12" sz="2400">
                <a:latin typeface="Times New Roman"/>
                <a:ea typeface="Times New Roman"/>
                <a:cs typeface="Times New Roman"/>
                <a:sym typeface="Times New Roman"/>
              </a:defRPr>
            </a:pPr>
            <a:r>
              <a:t>cpp-httplib – Connects the website frontend with the C++ backend through HTTP APIs. </a:t>
            </a:r>
          </a:p>
          <a:p>
            <a:pPr marL="342900" indent="-342900" algn="just">
              <a:lnSpc>
                <a:spcPct val="150000"/>
              </a:lnSpc>
              <a:buSzPct val="100000"/>
              <a:buChar char="➢"/>
              <a:defRPr spc="12" sz="2400">
                <a:latin typeface="Times New Roman"/>
                <a:ea typeface="Times New Roman"/>
                <a:cs typeface="Times New Roman"/>
                <a:sym typeface="Times New Roman"/>
              </a:defRPr>
            </a:pPr>
            <a:r>
              <a:t>Visual Studio Code – Used to write and manage the project code. Google Chrome – Used to run and test the website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6" name="object 2"/>
          <p:cNvSpPr txBox="1"/>
          <p:nvPr>
            <p:ph type="title"/>
          </p:nvPr>
        </p:nvSpPr>
        <p:spPr>
          <a:xfrm>
            <a:off x="2171700" y="533399"/>
            <a:ext cx="7772400" cy="689934"/>
          </a:xfrm>
          <a:prstGeom prst="rect">
            <a:avLst/>
          </a:prstGeom>
        </p:spPr>
        <p:txBody>
          <a:bodyPr/>
          <a:lstStyle>
            <a:lvl1pPr marL="1500505" marR="5080" indent="-1488440" algn="ctr">
              <a:spcBef>
                <a:spcPts val="100"/>
              </a:spcBef>
              <a:tabLst>
                <a:tab pos="2184400" algn="l"/>
                <a:tab pos="4749800" algn="l"/>
              </a:tabLst>
              <a:defRPr spc="-100"/>
            </a:lvl1pPr>
          </a:lstStyle>
          <a:p>
            <a:pPr/>
            <a:r>
              <a:t>SYSTEM ARCHITECTURE</a:t>
            </a:r>
          </a:p>
        </p:txBody>
      </p:sp>
      <p:pic>
        <p:nvPicPr>
          <p:cNvPr id="87" name="Picture 2" descr="Picture 2"/>
          <p:cNvPicPr>
            <a:picLocks noChangeAspect="1"/>
          </p:cNvPicPr>
          <p:nvPr/>
        </p:nvPicPr>
        <p:blipFill>
          <a:blip r:embed="rId2">
            <a:extLst/>
          </a:blip>
          <a:stretch>
            <a:fillRect/>
          </a:stretch>
        </p:blipFill>
        <p:spPr>
          <a:xfrm>
            <a:off x="914400" y="1828800"/>
            <a:ext cx="10591800" cy="4694431"/>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 name="object 2"/>
          <p:cNvSpPr txBox="1"/>
          <p:nvPr>
            <p:ph type="title"/>
          </p:nvPr>
        </p:nvSpPr>
        <p:spPr>
          <a:xfrm>
            <a:off x="1676400" y="914399"/>
            <a:ext cx="8864600" cy="628379"/>
          </a:xfrm>
          <a:prstGeom prst="rect">
            <a:avLst/>
          </a:prstGeom>
        </p:spPr>
        <p:txBody>
          <a:bodyPr/>
          <a:lstStyle>
            <a:lvl1pPr marL="3163570" marR="5080" indent="-3151505">
              <a:spcBef>
                <a:spcPts val="100"/>
              </a:spcBef>
              <a:tabLst>
                <a:tab pos="2387600" algn="l"/>
                <a:tab pos="2806700" algn="l"/>
              </a:tabLst>
              <a:defRPr sz="4000"/>
            </a:lvl1pPr>
          </a:lstStyle>
          <a:p>
            <a:pPr/>
            <a:r>
              <a:t>Module 1: User and Seller Management </a:t>
            </a:r>
          </a:p>
        </p:txBody>
      </p:sp>
      <p:sp>
        <p:nvSpPr>
          <p:cNvPr id="90" name="Rectangle 3"/>
          <p:cNvSpPr txBox="1"/>
          <p:nvPr/>
        </p:nvSpPr>
        <p:spPr>
          <a:xfrm>
            <a:off x="502919" y="2292100"/>
            <a:ext cx="4861562" cy="346864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lnSpc>
                <a:spcPct val="150000"/>
              </a:lnSpc>
              <a:buSzPct val="100000"/>
              <a:buChar char="➢"/>
              <a:defRPr sz="2400">
                <a:latin typeface="Times New Roman"/>
                <a:ea typeface="Times New Roman"/>
                <a:cs typeface="Times New Roman"/>
                <a:sym typeface="Times New Roman"/>
              </a:defRPr>
            </a:pPr>
            <a:r>
              <a:t>Register new customers and sellers.</a:t>
            </a:r>
          </a:p>
          <a:p>
            <a:pPr marL="342900" indent="-342900">
              <a:lnSpc>
                <a:spcPct val="150000"/>
              </a:lnSpc>
              <a:buSzPct val="100000"/>
              <a:buChar char="➢"/>
              <a:defRPr sz="2400">
                <a:latin typeface="Times New Roman"/>
                <a:ea typeface="Times New Roman"/>
                <a:cs typeface="Times New Roman"/>
                <a:sym typeface="Times New Roman"/>
              </a:defRPr>
            </a:pPr>
            <a:r>
              <a:t>Implement secure login and logout functionality.</a:t>
            </a:r>
          </a:p>
          <a:p>
            <a:pPr marL="342900" indent="-342900">
              <a:lnSpc>
                <a:spcPct val="150000"/>
              </a:lnSpc>
              <a:buSzPct val="100000"/>
              <a:buChar char="➢"/>
              <a:defRPr sz="2400">
                <a:latin typeface="Times New Roman"/>
                <a:ea typeface="Times New Roman"/>
                <a:cs typeface="Times New Roman"/>
                <a:sym typeface="Times New Roman"/>
              </a:defRPr>
            </a:pPr>
            <a:r>
              <a:t>Validate usernames and passwords.</a:t>
            </a:r>
          </a:p>
          <a:p>
            <a:pPr marL="342900" indent="-342900">
              <a:lnSpc>
                <a:spcPct val="150000"/>
              </a:lnSpc>
              <a:buSzPct val="100000"/>
              <a:buChar char="➢"/>
              <a:defRPr sz="2400">
                <a:latin typeface="Times New Roman"/>
                <a:ea typeface="Times New Roman"/>
                <a:cs typeface="Times New Roman"/>
                <a:sym typeface="Times New Roman"/>
              </a:defRPr>
            </a:pPr>
            <a:r>
              <a:t>Manage customer and seller profile details.</a:t>
            </a:r>
          </a:p>
          <a:p>
            <a:pPr marL="342900" indent="-342900">
              <a:lnSpc>
                <a:spcPct val="150000"/>
              </a:lnSpc>
              <a:buSzPct val="100000"/>
              <a:buChar char="➢"/>
              <a:defRPr sz="2400">
                <a:latin typeface="Times New Roman"/>
                <a:ea typeface="Times New Roman"/>
                <a:cs typeface="Times New Roman"/>
                <a:sym typeface="Times New Roman"/>
              </a:defRPr>
            </a:pPr>
            <a:r>
              <a:t>Store and retrieve user information.</a:t>
            </a:r>
          </a:p>
        </p:txBody>
      </p:sp>
      <p:pic>
        <p:nvPicPr>
          <p:cNvPr id="91" name="Picture 5" descr="Picture 5"/>
          <p:cNvPicPr>
            <a:picLocks noChangeAspect="1"/>
          </p:cNvPicPr>
          <p:nvPr/>
        </p:nvPicPr>
        <p:blipFill>
          <a:blip r:embed="rId2">
            <a:extLst/>
          </a:blip>
          <a:stretch>
            <a:fillRect/>
          </a:stretch>
        </p:blipFill>
        <p:spPr>
          <a:xfrm>
            <a:off x="6172200" y="1752600"/>
            <a:ext cx="5410200" cy="4816734"/>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 name="object 2"/>
          <p:cNvSpPr txBox="1"/>
          <p:nvPr>
            <p:ph type="title"/>
          </p:nvPr>
        </p:nvSpPr>
        <p:spPr>
          <a:xfrm>
            <a:off x="2209800" y="473410"/>
            <a:ext cx="8099246" cy="1243931"/>
          </a:xfrm>
          <a:prstGeom prst="rect">
            <a:avLst/>
          </a:prstGeom>
        </p:spPr>
        <p:txBody>
          <a:bodyPr/>
          <a:lstStyle>
            <a:lvl1pPr marL="2133600" marR="5080" indent="-2121535">
              <a:spcBef>
                <a:spcPts val="100"/>
              </a:spcBef>
              <a:tabLst>
                <a:tab pos="2387600" algn="l"/>
                <a:tab pos="2743200" algn="l"/>
                <a:tab pos="2806700" algn="l"/>
                <a:tab pos="4711700" algn="l"/>
              </a:tabLst>
              <a:defRPr sz="4000"/>
            </a:lvl1pPr>
          </a:lstStyle>
          <a:p>
            <a:pPr/>
            <a:r>
              <a:t>Module 2: Product and Order Management </a:t>
            </a:r>
          </a:p>
        </p:txBody>
      </p:sp>
      <p:sp>
        <p:nvSpPr>
          <p:cNvPr id="94" name="Rectangle 1"/>
          <p:cNvSpPr txBox="1"/>
          <p:nvPr/>
        </p:nvSpPr>
        <p:spPr>
          <a:xfrm>
            <a:off x="502919" y="2117304"/>
            <a:ext cx="6150205" cy="44844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lnSpc>
                <a:spcPct val="150000"/>
              </a:lnSpc>
              <a:buSzPct val="100000"/>
              <a:buChar char="➢"/>
              <a:defRPr sz="2400">
                <a:latin typeface="Times New Roman"/>
                <a:ea typeface="Times New Roman"/>
                <a:cs typeface="Times New Roman"/>
                <a:sym typeface="Times New Roman"/>
              </a:defRPr>
            </a:pPr>
            <a:r>
              <a:t>Add, update, delete, and display products.</a:t>
            </a:r>
          </a:p>
          <a:p>
            <a:pPr marL="342900" indent="-342900">
              <a:lnSpc>
                <a:spcPct val="150000"/>
              </a:lnSpc>
              <a:buSzPct val="100000"/>
              <a:buChar char="➢"/>
              <a:defRPr sz="2400">
                <a:latin typeface="Times New Roman"/>
                <a:ea typeface="Times New Roman"/>
                <a:cs typeface="Times New Roman"/>
                <a:sym typeface="Times New Roman"/>
              </a:defRPr>
            </a:pPr>
            <a:r>
              <a:t>Manage product categories, prices, and stock quantities.</a:t>
            </a:r>
          </a:p>
          <a:p>
            <a:pPr marL="342900" indent="-342900">
              <a:lnSpc>
                <a:spcPct val="150000"/>
              </a:lnSpc>
              <a:buSzPct val="100000"/>
              <a:buChar char="➢"/>
              <a:defRPr sz="2400">
                <a:latin typeface="Times New Roman"/>
                <a:ea typeface="Times New Roman"/>
                <a:cs typeface="Times New Roman"/>
                <a:sym typeface="Times New Roman"/>
              </a:defRPr>
            </a:pPr>
            <a:r>
              <a:t>Allow customers to add or remove products from the cart.</a:t>
            </a:r>
          </a:p>
          <a:p>
            <a:pPr marL="342900" indent="-342900">
              <a:lnSpc>
                <a:spcPct val="150000"/>
              </a:lnSpc>
              <a:buSzPct val="100000"/>
              <a:buChar char="➢"/>
              <a:defRPr sz="2400">
                <a:latin typeface="Times New Roman"/>
                <a:ea typeface="Times New Roman"/>
                <a:cs typeface="Times New Roman"/>
                <a:sym typeface="Times New Roman"/>
              </a:defRPr>
            </a:pPr>
            <a:r>
              <a:t>Calculate the total price and process customer orders.</a:t>
            </a:r>
          </a:p>
          <a:p>
            <a:pPr marL="342900" indent="-342900">
              <a:lnSpc>
                <a:spcPct val="150000"/>
              </a:lnSpc>
              <a:buSzPct val="100000"/>
              <a:buChar char="➢"/>
              <a:defRPr sz="2400">
                <a:latin typeface="Times New Roman"/>
                <a:ea typeface="Times New Roman"/>
                <a:cs typeface="Times New Roman"/>
                <a:sym typeface="Times New Roman"/>
              </a:defRPr>
            </a:pPr>
            <a:r>
              <a:t>Update stock quantities and maintain order history.</a:t>
            </a:r>
          </a:p>
        </p:txBody>
      </p:sp>
      <p:pic>
        <p:nvPicPr>
          <p:cNvPr id="95" name="Picture 4" descr="Picture 4"/>
          <p:cNvPicPr>
            <a:picLocks noChangeAspect="1"/>
          </p:cNvPicPr>
          <p:nvPr/>
        </p:nvPicPr>
        <p:blipFill>
          <a:blip r:embed="rId2">
            <a:extLst/>
          </a:blip>
          <a:stretch>
            <a:fillRect/>
          </a:stretch>
        </p:blipFill>
        <p:spPr>
          <a:xfrm>
            <a:off x="6668362" y="1981200"/>
            <a:ext cx="5295038" cy="4737930"/>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object 2"/>
          <p:cNvSpPr txBox="1"/>
          <p:nvPr>
            <p:ph type="title"/>
          </p:nvPr>
        </p:nvSpPr>
        <p:spPr>
          <a:xfrm>
            <a:off x="2057400" y="457200"/>
            <a:ext cx="8305800" cy="1243930"/>
          </a:xfrm>
          <a:prstGeom prst="rect">
            <a:avLst/>
          </a:prstGeom>
        </p:spPr>
        <p:txBody>
          <a:bodyPr/>
          <a:lstStyle>
            <a:lvl1pPr marL="2133600" marR="5080" indent="-2121535">
              <a:spcBef>
                <a:spcPts val="100"/>
              </a:spcBef>
              <a:tabLst>
                <a:tab pos="2387600" algn="l"/>
                <a:tab pos="2743200" algn="l"/>
                <a:tab pos="2806700" algn="l"/>
                <a:tab pos="4711700" algn="l"/>
              </a:tabLst>
              <a:defRPr sz="4000"/>
            </a:lvl1pPr>
          </a:lstStyle>
          <a:p>
            <a:pPr/>
            <a:r>
              <a:t>Module 3: AI Recommendation and Analytics Module</a:t>
            </a:r>
          </a:p>
        </p:txBody>
      </p:sp>
      <p:sp>
        <p:nvSpPr>
          <p:cNvPr id="98" name="Rectangle 1"/>
          <p:cNvSpPr txBox="1"/>
          <p:nvPr/>
        </p:nvSpPr>
        <p:spPr>
          <a:xfrm>
            <a:off x="1036319" y="2513774"/>
            <a:ext cx="6080762" cy="296077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lgn="just">
              <a:lnSpc>
                <a:spcPct val="150000"/>
              </a:lnSpc>
              <a:buSzPct val="100000"/>
              <a:buChar char="➢"/>
              <a:defRPr sz="2400">
                <a:latin typeface="Times New Roman"/>
                <a:ea typeface="Times New Roman"/>
                <a:cs typeface="Times New Roman"/>
                <a:sym typeface="Times New Roman"/>
              </a:defRPr>
            </a:pPr>
            <a:r>
              <a:t>Analyze product ratings and sales data.</a:t>
            </a:r>
          </a:p>
          <a:p>
            <a:pPr marL="342900" indent="-342900" algn="just">
              <a:lnSpc>
                <a:spcPct val="150000"/>
              </a:lnSpc>
              <a:buSzPct val="100000"/>
              <a:buChar char="➢"/>
              <a:defRPr sz="2400">
                <a:latin typeface="Times New Roman"/>
                <a:ea typeface="Times New Roman"/>
                <a:cs typeface="Times New Roman"/>
                <a:sym typeface="Times New Roman"/>
              </a:defRPr>
            </a:pPr>
            <a:r>
              <a:t>Identify popular products and categories.</a:t>
            </a:r>
          </a:p>
          <a:p>
            <a:pPr marL="342900" indent="-342900" algn="just">
              <a:lnSpc>
                <a:spcPct val="150000"/>
              </a:lnSpc>
              <a:buSzPct val="100000"/>
              <a:buChar char="➢"/>
              <a:defRPr sz="2400">
                <a:latin typeface="Times New Roman"/>
                <a:ea typeface="Times New Roman"/>
                <a:cs typeface="Times New Roman"/>
                <a:sym typeface="Times New Roman"/>
              </a:defRPr>
            </a:pPr>
            <a:r>
              <a:t>Calculate product popularity scores.</a:t>
            </a:r>
          </a:p>
          <a:p>
            <a:pPr marL="342900" indent="-342900" algn="just">
              <a:lnSpc>
                <a:spcPct val="150000"/>
              </a:lnSpc>
              <a:buSzPct val="100000"/>
              <a:buChar char="➢"/>
              <a:defRPr sz="2400">
                <a:latin typeface="Times New Roman"/>
                <a:ea typeface="Times New Roman"/>
                <a:cs typeface="Times New Roman"/>
                <a:sym typeface="Times New Roman"/>
              </a:defRPr>
            </a:pPr>
            <a:r>
              <a:t>Generate product and sales reports.</a:t>
            </a:r>
          </a:p>
          <a:p>
            <a:pPr marL="342900" indent="-342900" algn="just">
              <a:lnSpc>
                <a:spcPct val="150000"/>
              </a:lnSpc>
              <a:buSzPct val="100000"/>
              <a:buChar char="➢"/>
              <a:defRPr sz="2400">
                <a:latin typeface="Times New Roman"/>
                <a:ea typeface="Times New Roman"/>
                <a:cs typeface="Times New Roman"/>
                <a:sym typeface="Times New Roman"/>
              </a:defRPr>
            </a:pPr>
            <a:r>
              <a:t>Display trending products based on available data.</a:t>
            </a:r>
          </a:p>
        </p:txBody>
      </p:sp>
      <p:pic>
        <p:nvPicPr>
          <p:cNvPr id="99" name="Picture 5" descr="Picture 5"/>
          <p:cNvPicPr>
            <a:picLocks noChangeAspect="1"/>
          </p:cNvPicPr>
          <p:nvPr/>
        </p:nvPicPr>
        <p:blipFill>
          <a:blip r:embed="rId2">
            <a:extLst/>
          </a:blip>
          <a:stretch>
            <a:fillRect/>
          </a:stretch>
        </p:blipFill>
        <p:spPr>
          <a:xfrm>
            <a:off x="7620000" y="1833879"/>
            <a:ext cx="4191000" cy="4779414"/>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 name="object 2"/>
          <p:cNvSpPr txBox="1"/>
          <p:nvPr>
            <p:ph type="title"/>
          </p:nvPr>
        </p:nvSpPr>
        <p:spPr>
          <a:xfrm>
            <a:off x="1676400" y="609600"/>
            <a:ext cx="9372600" cy="997708"/>
          </a:xfrm>
          <a:prstGeom prst="rect">
            <a:avLst/>
          </a:prstGeom>
        </p:spPr>
        <p:txBody>
          <a:bodyPr/>
          <a:lstStyle>
            <a:lvl1pPr marL="2133600" marR="5080" indent="-2121535">
              <a:spcBef>
                <a:spcPts val="100"/>
              </a:spcBef>
              <a:tabLst>
                <a:tab pos="2387600" algn="l"/>
                <a:tab pos="2743200" algn="l"/>
                <a:tab pos="2806700" algn="l"/>
                <a:tab pos="4711700" algn="l"/>
              </a:tabLst>
              <a:defRPr sz="3200"/>
            </a:lvl1pPr>
          </a:lstStyle>
          <a:p>
            <a:pPr/>
            <a:r>
              <a:t>Module 4: AI-Powered Product Recommendation and Personalized Shopping</a:t>
            </a:r>
          </a:p>
        </p:txBody>
      </p:sp>
      <p:sp>
        <p:nvSpPr>
          <p:cNvPr id="102" name="Rectangle 1"/>
          <p:cNvSpPr txBox="1"/>
          <p:nvPr/>
        </p:nvSpPr>
        <p:spPr>
          <a:xfrm>
            <a:off x="426719" y="2729790"/>
            <a:ext cx="7604762" cy="296077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lgn="just">
              <a:lnSpc>
                <a:spcPct val="150000"/>
              </a:lnSpc>
              <a:buSzPct val="100000"/>
              <a:buChar char="➢"/>
              <a:defRPr sz="2400">
                <a:latin typeface="Times New Roman"/>
                <a:ea typeface="Times New Roman"/>
                <a:cs typeface="Times New Roman"/>
                <a:sym typeface="Times New Roman"/>
              </a:defRPr>
            </a:pPr>
            <a:r>
              <a:t>Collect customer preferences and purchase history.</a:t>
            </a:r>
          </a:p>
          <a:p>
            <a:pPr marL="342900" indent="-342900" algn="just">
              <a:lnSpc>
                <a:spcPct val="150000"/>
              </a:lnSpc>
              <a:buSzPct val="100000"/>
              <a:buChar char="➢"/>
              <a:defRPr sz="2400">
                <a:latin typeface="Times New Roman"/>
                <a:ea typeface="Times New Roman"/>
                <a:cs typeface="Times New Roman"/>
                <a:sym typeface="Times New Roman"/>
              </a:defRPr>
            </a:pPr>
            <a:r>
              <a:t>Analyze product categories and features.</a:t>
            </a:r>
          </a:p>
          <a:p>
            <a:pPr marL="342900" indent="-342900" algn="just">
              <a:lnSpc>
                <a:spcPct val="150000"/>
              </a:lnSpc>
              <a:buSzPct val="100000"/>
              <a:buChar char="➢"/>
              <a:defRPr sz="2400">
                <a:latin typeface="Times New Roman"/>
                <a:ea typeface="Times New Roman"/>
                <a:cs typeface="Times New Roman"/>
                <a:sym typeface="Times New Roman"/>
              </a:defRPr>
            </a:pPr>
            <a:r>
              <a:t>Calculate similarity scores between products.</a:t>
            </a:r>
          </a:p>
          <a:p>
            <a:pPr marL="342900" indent="-342900" algn="just">
              <a:lnSpc>
                <a:spcPct val="150000"/>
              </a:lnSpc>
              <a:buSzPct val="100000"/>
              <a:buChar char="➢"/>
              <a:defRPr sz="2400">
                <a:latin typeface="Times New Roman"/>
                <a:ea typeface="Times New Roman"/>
                <a:cs typeface="Times New Roman"/>
                <a:sym typeface="Times New Roman"/>
              </a:defRPr>
            </a:pPr>
            <a:r>
              <a:t>Rank and recommend suitable products using content-based filtering.</a:t>
            </a:r>
          </a:p>
          <a:p>
            <a:pPr marL="342900" indent="-342900" algn="just">
              <a:lnSpc>
                <a:spcPct val="150000"/>
              </a:lnSpc>
              <a:buSzPct val="100000"/>
              <a:buChar char="➢"/>
              <a:defRPr sz="2400">
                <a:latin typeface="Times New Roman"/>
                <a:ea typeface="Times New Roman"/>
                <a:cs typeface="Times New Roman"/>
                <a:sym typeface="Times New Roman"/>
              </a:defRPr>
            </a:pPr>
            <a:r>
              <a:t>Display personalized product suggestions to customers.</a:t>
            </a:r>
          </a:p>
        </p:txBody>
      </p:sp>
      <p:pic>
        <p:nvPicPr>
          <p:cNvPr id="103" name="Picture 4" descr="Picture 4"/>
          <p:cNvPicPr>
            <a:picLocks noChangeAspect="1"/>
          </p:cNvPicPr>
          <p:nvPr/>
        </p:nvPicPr>
        <p:blipFill>
          <a:blip r:embed="rId2">
            <a:extLst/>
          </a:blip>
          <a:stretch>
            <a:fillRect/>
          </a:stretch>
        </p:blipFill>
        <p:spPr>
          <a:xfrm>
            <a:off x="8305800" y="2001520"/>
            <a:ext cx="3505202" cy="4652434"/>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5" name="object 2"/>
          <p:cNvSpPr txBox="1"/>
          <p:nvPr>
            <p:ph type="title"/>
          </p:nvPr>
        </p:nvSpPr>
        <p:spPr>
          <a:xfrm>
            <a:off x="1676400" y="609599"/>
            <a:ext cx="9372600" cy="505268"/>
          </a:xfrm>
          <a:prstGeom prst="rect">
            <a:avLst/>
          </a:prstGeom>
        </p:spPr>
        <p:txBody>
          <a:bodyPr/>
          <a:lstStyle>
            <a:lvl1pPr marL="2133600" marR="5080" indent="-2121535" algn="ctr">
              <a:spcBef>
                <a:spcPts val="100"/>
              </a:spcBef>
              <a:tabLst>
                <a:tab pos="2387600" algn="l"/>
                <a:tab pos="2743200" algn="l"/>
                <a:tab pos="2806700" algn="l"/>
                <a:tab pos="4711700" algn="l"/>
              </a:tabLst>
              <a:defRPr sz="3200"/>
            </a:lvl1pPr>
          </a:lstStyle>
          <a:p>
            <a:pPr/>
            <a:r>
              <a:t>OUTPUT</a:t>
            </a:r>
          </a:p>
        </p:txBody>
      </p:sp>
      <p:pic>
        <p:nvPicPr>
          <p:cNvPr id="106" name="Picture 2" descr="Picture 2"/>
          <p:cNvPicPr>
            <a:picLocks noChangeAspect="1"/>
          </p:cNvPicPr>
          <p:nvPr/>
        </p:nvPicPr>
        <p:blipFill>
          <a:blip r:embed="rId2">
            <a:extLst/>
          </a:blip>
          <a:stretch>
            <a:fillRect/>
          </a:stretch>
        </p:blipFill>
        <p:spPr>
          <a:xfrm>
            <a:off x="228600" y="1676400"/>
            <a:ext cx="11811000" cy="4908713"/>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object 2"/>
          <p:cNvSpPr txBox="1"/>
          <p:nvPr>
            <p:ph type="title"/>
          </p:nvPr>
        </p:nvSpPr>
        <p:spPr>
          <a:xfrm>
            <a:off x="1676400" y="609600"/>
            <a:ext cx="9372600" cy="597599"/>
          </a:xfrm>
          <a:prstGeom prst="rect">
            <a:avLst/>
          </a:prstGeom>
        </p:spPr>
        <p:txBody>
          <a:bodyPr/>
          <a:lstStyle>
            <a:lvl1pPr marL="2133600" marR="5080" indent="-2121535" algn="ctr">
              <a:spcBef>
                <a:spcPts val="100"/>
              </a:spcBef>
              <a:tabLst>
                <a:tab pos="2387600" algn="l"/>
                <a:tab pos="2743200" algn="l"/>
                <a:tab pos="2806700" algn="l"/>
                <a:tab pos="4711700" algn="l"/>
              </a:tabLst>
              <a:defRPr sz="3800"/>
            </a:lvl1pPr>
          </a:lstStyle>
          <a:p>
            <a:pPr/>
            <a:r>
              <a:t>ADVANTAGES</a:t>
            </a:r>
          </a:p>
        </p:txBody>
      </p:sp>
      <p:sp>
        <p:nvSpPr>
          <p:cNvPr id="109" name="Rectangle 1"/>
          <p:cNvSpPr txBox="1"/>
          <p:nvPr/>
        </p:nvSpPr>
        <p:spPr>
          <a:xfrm>
            <a:off x="1493519" y="2026495"/>
            <a:ext cx="9281162" cy="397652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lgn="just">
              <a:lnSpc>
                <a:spcPct val="150000"/>
              </a:lnSpc>
              <a:buSzPct val="100000"/>
              <a:buChar char="➢"/>
              <a:defRPr sz="2400">
                <a:latin typeface="Times New Roman"/>
                <a:ea typeface="Times New Roman"/>
                <a:cs typeface="Times New Roman"/>
                <a:sym typeface="Times New Roman"/>
              </a:defRPr>
            </a:pPr>
            <a:r>
              <a:t>Easy Shopping: Customers can browse and purchase products online.</a:t>
            </a:r>
          </a:p>
          <a:p>
            <a:pPr marL="342900" indent="-342900" algn="just">
              <a:lnSpc>
                <a:spcPct val="150000"/>
              </a:lnSpc>
              <a:buSzPct val="100000"/>
              <a:buChar char="➢"/>
              <a:defRPr sz="2400">
                <a:latin typeface="Times New Roman"/>
                <a:ea typeface="Times New Roman"/>
                <a:cs typeface="Times New Roman"/>
                <a:sym typeface="Times New Roman"/>
              </a:defRPr>
            </a:pPr>
            <a:r>
              <a:t>Multiple Sellers: Different sellers can sell their products on one platform.</a:t>
            </a:r>
          </a:p>
          <a:p>
            <a:pPr marL="342900" indent="-342900" algn="just">
              <a:lnSpc>
                <a:spcPct val="150000"/>
              </a:lnSpc>
              <a:buSzPct val="100000"/>
              <a:buChar char="➢"/>
              <a:defRPr sz="2400">
                <a:latin typeface="Times New Roman"/>
                <a:ea typeface="Times New Roman"/>
                <a:cs typeface="Times New Roman"/>
                <a:sym typeface="Times New Roman"/>
              </a:defRPr>
            </a:pPr>
            <a:r>
              <a:t>AI Recommendations: Suggests products based on customer preferences.</a:t>
            </a:r>
          </a:p>
          <a:p>
            <a:pPr marL="342900" indent="-342900" algn="just">
              <a:lnSpc>
                <a:spcPct val="150000"/>
              </a:lnSpc>
              <a:buSzPct val="100000"/>
              <a:buChar char="➢"/>
              <a:defRPr sz="2400">
                <a:latin typeface="Times New Roman"/>
                <a:ea typeface="Times New Roman"/>
                <a:cs typeface="Times New Roman"/>
                <a:sym typeface="Times New Roman"/>
              </a:defRPr>
            </a:pPr>
            <a:r>
              <a:t>Time Saving: Customers can search and compare products quickly.</a:t>
            </a:r>
          </a:p>
          <a:p>
            <a:pPr marL="342900" indent="-342900" algn="just">
              <a:lnSpc>
                <a:spcPct val="150000"/>
              </a:lnSpc>
              <a:buSzPct val="100000"/>
              <a:buChar char="➢"/>
              <a:defRPr sz="2400">
                <a:latin typeface="Times New Roman"/>
                <a:ea typeface="Times New Roman"/>
                <a:cs typeface="Times New Roman"/>
                <a:sym typeface="Times New Roman"/>
              </a:defRPr>
            </a:pPr>
            <a:r>
              <a:t>Sales Analysis: Helps sellers identify popular products and improve sales.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object 2"/>
          <p:cNvSpPr txBox="1"/>
          <p:nvPr>
            <p:ph type="title"/>
          </p:nvPr>
        </p:nvSpPr>
        <p:spPr>
          <a:xfrm>
            <a:off x="3865888" y="380999"/>
            <a:ext cx="3984445" cy="953137"/>
          </a:xfrm>
          <a:prstGeom prst="rect">
            <a:avLst/>
          </a:prstGeom>
        </p:spPr>
        <p:txBody>
          <a:bodyPr/>
          <a:lstStyle/>
          <a:p>
            <a:pPr>
              <a:spcBef>
                <a:spcPts val="100"/>
              </a:spcBef>
              <a:defRPr spc="-100"/>
            </a:pPr>
            <a:r>
              <a:t>C</a:t>
            </a:r>
            <a:r>
              <a:t>ONCLUSION</a:t>
            </a:r>
          </a:p>
        </p:txBody>
      </p:sp>
      <p:sp>
        <p:nvSpPr>
          <p:cNvPr id="112" name="Rectangle 1"/>
          <p:cNvSpPr txBox="1"/>
          <p:nvPr>
            <p:ph type="body" idx="1"/>
          </p:nvPr>
        </p:nvSpPr>
        <p:spPr>
          <a:xfrm>
            <a:off x="1066800" y="1752599"/>
            <a:ext cx="10329627" cy="3970320"/>
          </a:xfrm>
          <a:prstGeom prst="rect">
            <a:avLst/>
          </a:prstGeom>
        </p:spPr>
        <p:txBody>
          <a:bodyPr lIns="45719" tIns="45719" rIns="45719" bIns="45719" anchor="ctr"/>
          <a:lstStyle/>
          <a:p>
            <a:pPr marL="285750" indent="-285750" algn="just">
              <a:lnSpc>
                <a:spcPct val="150000"/>
              </a:lnSpc>
              <a:buSzPct val="100000"/>
              <a:buChar char="➢"/>
            </a:pPr>
          </a:p>
          <a:p>
            <a:pPr marL="285750" indent="-285750" algn="just">
              <a:lnSpc>
                <a:spcPct val="150000"/>
              </a:lnSpc>
              <a:buSzPct val="100000"/>
              <a:buChar char="➢"/>
            </a:pPr>
            <a:r>
              <a:t>The project successfully converts chatbot scripts into executable Python code. </a:t>
            </a:r>
          </a:p>
          <a:p>
            <a:pPr marL="285750" indent="-285750" algn="just">
              <a:lnSpc>
                <a:spcPct val="150000"/>
              </a:lnSpc>
              <a:buSzPct val="100000"/>
              <a:buChar char="➢"/>
            </a:pPr>
            <a:r>
              <a:t>It reduces the need for manual coding and simplifies chatbot development. </a:t>
            </a:r>
          </a:p>
          <a:p>
            <a:pPr marL="285750" indent="-285750" algn="just">
              <a:lnSpc>
                <a:spcPct val="150000"/>
              </a:lnSpc>
              <a:buSzPct val="100000"/>
              <a:buChar char="➢"/>
            </a:pPr>
            <a:r>
              <a:t>The use of parsing and rule-based logic ensures accurate code generation. </a:t>
            </a:r>
          </a:p>
          <a:p>
            <a:pPr marL="285750" indent="-285750" algn="just">
              <a:lnSpc>
                <a:spcPct val="150000"/>
              </a:lnSpc>
              <a:buSzPct val="100000"/>
              <a:buChar char="➢"/>
            </a:pPr>
            <a:r>
              <a:t>The system is user-friendly and suitable for beginners. </a:t>
            </a:r>
          </a:p>
          <a:p>
            <a:pPr marL="285750" indent="-285750" algn="just">
              <a:lnSpc>
                <a:spcPct val="150000"/>
              </a:lnSpc>
              <a:buSzPct val="100000"/>
              <a:buChar char="➢"/>
            </a:pPr>
            <a:r>
              <a:t>Overall, it improves efficiency and provides a practical solution for automated chatbot creation. </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object 2"/>
          <p:cNvSpPr txBox="1"/>
          <p:nvPr>
            <p:ph type="title"/>
          </p:nvPr>
        </p:nvSpPr>
        <p:spPr>
          <a:xfrm>
            <a:off x="2971800" y="2514599"/>
            <a:ext cx="6745645" cy="1551709"/>
          </a:xfrm>
          <a:prstGeom prst="rect">
            <a:avLst/>
          </a:prstGeom>
        </p:spPr>
        <p:txBody>
          <a:bodyPr/>
          <a:lstStyle/>
          <a:p>
            <a:pPr indent="12700" algn="ctr">
              <a:spcBef>
                <a:spcPts val="100"/>
              </a:spcBef>
              <a:defRPr sz="10000">
                <a:solidFill>
                  <a:srgbClr val="2F5496"/>
                </a:solidFill>
              </a:defRPr>
            </a:pPr>
            <a:r>
              <a:t>Thank</a:t>
            </a:r>
            <a:r>
              <a:rPr spc="-300"/>
              <a:t> </a:t>
            </a:r>
            <a:r>
              <a:rPr spc="-800"/>
              <a:t>Y</a:t>
            </a:r>
            <a:r>
              <a:t>ou!</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Helvetica Neue"/>
        <a:ea typeface="Helvetica Neue"/>
        <a:cs typeface="Helvetica Neu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Helvetica Neue"/>
        <a:ea typeface="Helvetica Neue"/>
        <a:cs typeface="Helvetica Neu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